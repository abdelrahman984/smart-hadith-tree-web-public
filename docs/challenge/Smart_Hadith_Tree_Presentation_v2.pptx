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63" r:id="rId13"/>
    <p:sldId id="267" r:id="rId17"/>
    <p:sldId id="266" r:id="rId16"/>
    <p:sldId id="279" r:id="rId29"/>
    <p:sldId id="282" r:id="rId32"/>
    <p:sldId id="275" r:id="rId25"/>
    <p:sldId id="270" r:id="rId20"/>
    <p:sldId id="264" r:id="rId14"/>
    <p:sldId id="272" r:id="rId22"/>
    <p:sldId id="273" r:id="rId23"/>
    <p:sldId id="283" r:id="rId33"/>
    <p:sldId id="274" r:id="rId24"/>
    <p:sldId id="286" r:id="rId36"/>
  </p:sldIdLst>
  <p:sldSz cy="10287000" cx="18288000"/>
  <p:notesSz cx="6858000" cy="9144000"/>
  <p:embeddedFontLst>
    <p:embeddedFont>
      <p:font typeface="Urbanist"/>
      <p:regular r:id="rId37"/>
      <p:bold r:id="rId38"/>
      <p:italic r:id="rId39"/>
      <p:boldItalic r:id="rId40"/>
    </p:embeddedFont>
    <p:embeddedFont>
      <p:font typeface="Readex Pro Medium"/>
      <p:regular r:id="rId41"/>
      <p:bold r:id="rId42"/>
    </p:embeddedFont>
    <p:embeddedFont>
      <p:font typeface="Readex Pro SemiBold"/>
      <p:regular r:id="rId43"/>
      <p:bold r:id="rId44"/>
    </p:embeddedFont>
    <p:embeddedFont>
      <p:font typeface="Readex Pro"/>
      <p:regular r:id="rId45"/>
      <p:bold r:id="rId46"/>
    </p:embeddedFont>
    <p:embeddedFont>
      <p:font typeface="Readex Pro Light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9" roundtripDataSignature="AMtx7mh1GeQrG1kO//gaBT9ZQp796F1r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ED9858-D163-4338-9E88-1F424354888F}">
  <a:tblStyle styleId="{B8ED9858-D163-4338-9E88-1F424354888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4" Type="http://schemas.openxmlformats.org/officeDocument/2006/relationships/slide" Target="slides/slide8.xml"/><Relationship Id="rId16" Type="http://schemas.openxmlformats.org/officeDocument/2006/relationships/slide" Target="slides/slide3.xml"/><Relationship Id="rId17" Type="http://schemas.openxmlformats.org/officeDocument/2006/relationships/slide" Target="slides/slide2.xml"/><Relationship Id="rId20" Type="http://schemas.openxmlformats.org/officeDocument/2006/relationships/slide" Target="slides/slide7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2.xml"/><Relationship Id="rId25" Type="http://schemas.openxmlformats.org/officeDocument/2006/relationships/slide" Target="slides/slide6.xml"/><Relationship Id="rId29" Type="http://schemas.openxmlformats.org/officeDocument/2006/relationships/slide" Target="slides/slide4.xml"/><Relationship Id="rId32" Type="http://schemas.openxmlformats.org/officeDocument/2006/relationships/slide" Target="slides/slide5.xml"/><Relationship Id="rId33" Type="http://schemas.openxmlformats.org/officeDocument/2006/relationships/slide" Target="slides/slide11.xml"/><Relationship Id="rId36" Type="http://schemas.openxmlformats.org/officeDocument/2006/relationships/slide" Target="slides/slide13.xml"/><Relationship Id="rId37" Type="http://schemas.openxmlformats.org/officeDocument/2006/relationships/font" Target="fonts/Urbanist-regular.fntdata"/><Relationship Id="rId38" Type="http://schemas.openxmlformats.org/officeDocument/2006/relationships/font" Target="fonts/Urbanist-bold.fntdata"/><Relationship Id="rId39" Type="http://schemas.openxmlformats.org/officeDocument/2006/relationships/font" Target="fonts/Urbanist-italic.fntdata"/><Relationship Id="rId40" Type="http://schemas.openxmlformats.org/officeDocument/2006/relationships/font" Target="fonts/Urbanist-boldItalic.fntdata"/><Relationship Id="rId41" Type="http://schemas.openxmlformats.org/officeDocument/2006/relationships/font" Target="fonts/ReadexProMedium-regular.fntdata"/><Relationship Id="rId42" Type="http://schemas.openxmlformats.org/officeDocument/2006/relationships/font" Target="fonts/ReadexProMedium-bold.fntdata"/><Relationship Id="rId43" Type="http://schemas.openxmlformats.org/officeDocument/2006/relationships/font" Target="fonts/ReadexProSemiBold-regular.fntdata"/><Relationship Id="rId44" Type="http://schemas.openxmlformats.org/officeDocument/2006/relationships/font" Target="fonts/ReadexProSemiBold-bold.fntdata"/><Relationship Id="rId45" Type="http://schemas.openxmlformats.org/officeDocument/2006/relationships/font" Target="fonts/ReadexPro-regular.fntdata"/><Relationship Id="rId46" Type="http://schemas.openxmlformats.org/officeDocument/2006/relationships/font" Target="fonts/ReadexPro-bold.fntdata"/><Relationship Id="rId47" Type="http://schemas.openxmlformats.org/officeDocument/2006/relationships/font" Target="fonts/ReadexProLight-regular.fntdata"/><Relationship Id="rId48" Type="http://schemas.openxmlformats.org/officeDocument/2006/relationships/font" Target="fonts/ReadexProLight-bold.fntdata"/><Relationship Id="rId4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افتتاح (10 ثوانٍ): اسم المشروع والمسار 04. الرسالة: نحوّل السند إلى رسم يُفحص، ونُظهر مصدر كل معلومة وحالة دليلها.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82" name="Google Shape;48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5" name="Google Shape;49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التقنيات: ذكّر أن الذكاء الاصطناعي يُستدعى عند طلب المستخدم فقط، وأن الأقوال الأصلية والشجرة وفحص العلل لا تعتمد عليه.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96" name="Google Shape;49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3" name="Google Shape;53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الحل: أربع إمكانات. ابدأ بعد هذه الشريحة بالعرض الحي لا بالشرائح.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34" name="Google Shape;53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3" name="Google Shape;553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المشكلة (30 ثانية): من المستفيد؟ المعرِّف بالإسلام والباحث. حاجته: التحقق من اتصال السند وأقوال العلماء في الرواة. ثم معيار نجاح المسار 04.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54" name="Google Shape;554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8" name="Google Shape;598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البيانات: تحقق من هذه الأرقام من الحالة النهائية للبيانات قبل العرض، وحدّثها إن تغيّرت بعد دمج بيانات الرجال.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99" name="Google Shape;599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4" name="Google Shape;634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القياس: اعرض ما نُفِّذ فعلاً فقط. حدّث الجدول بنتائج جلسات اختبار المستخدمين ودقة قواعد العلل فور توفرها، وأزل كلمة «مخطَّط» عند إنجاز البند.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35" name="Google Shape;635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7" name="Google Shape;647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خطة الاستمرار: الأولويات بعد التسليم. أضف تكلفة التشغيل والاستضافة إن كانت معروفة.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48" name="Google Shape;648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3" name="Google Shape;683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الفريق: استبدل [الاسم] بأسماء الأعضاء، وعدّل أو احذف البطاقات بحسب الفريق الفعلي.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84" name="Google Shape;684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6" name="Google Shape;706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السلامة العلمية: اذكر الحدود بنفسك قبل أن تُسأل. لا فتوى ولا حكم نهائي، وامتناع عند غياب المرجع، واقتباس يُتحقق منه، وتنبيه ظاهر. هذا يقلل الاختلاق ولا يدّعي إلغاءه.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07" name="Google Shape;707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4" name="Google Shape;814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آلية العمل: من طرف الحديث إلى حالة الدليل. الأثر يُقاس باختبار مستخدمين (مخطَّط) فلا تدّعِ نتائج قبل إجرائه.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15" name="Google Shape;815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5" name="Google Shape;855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ما يميّز الأداة: الذكاء الاصطناعي المنضبط، والقاموس، والأقوال المنسوبة مع الخلاف، وحالة الدليل.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56" name="Google Shape;856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8" name="Google Shape;878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القيمة المضافة: نكمّل الشاملة والدرر السنية ولا نستبدلهما، ونحيل إليهما للحكم المعتمد.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79" name="Google Shape;879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1" name="Google Shape;911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الختام: أضف الرابط الحي، وتأكد أن المستودع عام وقت التسليم.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12" name="Google Shape;912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غلاف المشروع">
  <p:cSld name="غلاف المشروع">
    <p:bg>
      <p:bgPr>
        <a:solidFill>
          <a:srgbClr val="12183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876872"/>
            <a:ext cx="6572250" cy="1684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54250" y="840995"/>
            <a:ext cx="2190750" cy="138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8258" y="3190875"/>
            <a:ext cx="6701734" cy="619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4"/>
          <p:cNvSpPr txBox="1"/>
          <p:nvPr>
            <p:ph type="title"/>
          </p:nvPr>
        </p:nvSpPr>
        <p:spPr>
          <a:xfrm>
            <a:off x="8096250" y="3524250"/>
            <a:ext cx="90487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" name="Google Shape;17;p34"/>
          <p:cNvSpPr txBox="1"/>
          <p:nvPr>
            <p:ph idx="1" type="body"/>
          </p:nvPr>
        </p:nvSpPr>
        <p:spPr>
          <a:xfrm>
            <a:off x="8096250" y="5334000"/>
            <a:ext cx="904875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" name="Google Shape;18;p34"/>
          <p:cNvSpPr txBox="1"/>
          <p:nvPr>
            <p:ph idx="2" type="body"/>
          </p:nvPr>
        </p:nvSpPr>
        <p:spPr>
          <a:xfrm>
            <a:off x="8953500" y="7762875"/>
            <a:ext cx="81915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" name="Google Shape;19;p34"/>
          <p:cNvSpPr txBox="1"/>
          <p:nvPr>
            <p:ph idx="3" type="body"/>
          </p:nvPr>
        </p:nvSpPr>
        <p:spPr>
          <a:xfrm>
            <a:off x="1066800" y="9391650"/>
            <a:ext cx="5429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حتويات العرض">
  <p:cSld name="محتويات العرض">
    <p:bg>
      <p:bgPr>
        <a:solidFill>
          <a:srgbClr val="12183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5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" name="Google Shape;24;p35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5" name="Google Shape;25;p3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6" name="Google Shape;26;p3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5"/>
          <p:cNvSpPr txBox="1"/>
          <p:nvPr>
            <p:ph idx="2" type="body"/>
          </p:nvPr>
        </p:nvSpPr>
        <p:spPr>
          <a:xfrm>
            <a:off x="12382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" name="Google Shape;28;p35"/>
          <p:cNvSpPr txBox="1"/>
          <p:nvPr>
            <p:ph idx="3" type="body"/>
          </p:nvPr>
        </p:nvSpPr>
        <p:spPr>
          <a:xfrm>
            <a:off x="12382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" name="Google Shape;29;p35"/>
          <p:cNvSpPr txBox="1"/>
          <p:nvPr>
            <p:ph idx="4" type="body"/>
          </p:nvPr>
        </p:nvSpPr>
        <p:spPr>
          <a:xfrm>
            <a:off x="12382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5" type="body"/>
          </p:nvPr>
        </p:nvSpPr>
        <p:spPr>
          <a:xfrm>
            <a:off x="7048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" name="Google Shape;31;p35"/>
          <p:cNvSpPr txBox="1"/>
          <p:nvPr>
            <p:ph idx="6" type="body"/>
          </p:nvPr>
        </p:nvSpPr>
        <p:spPr>
          <a:xfrm>
            <a:off x="7048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2" name="Google Shape;32;p35"/>
          <p:cNvSpPr txBox="1"/>
          <p:nvPr>
            <p:ph idx="7" type="body"/>
          </p:nvPr>
        </p:nvSpPr>
        <p:spPr>
          <a:xfrm>
            <a:off x="7048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3" name="Google Shape;33;p35"/>
          <p:cNvSpPr txBox="1"/>
          <p:nvPr>
            <p:ph idx="8" type="body"/>
          </p:nvPr>
        </p:nvSpPr>
        <p:spPr>
          <a:xfrm>
            <a:off x="1714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4" name="Google Shape;34;p35"/>
          <p:cNvSpPr txBox="1"/>
          <p:nvPr>
            <p:ph idx="9" type="body"/>
          </p:nvPr>
        </p:nvSpPr>
        <p:spPr>
          <a:xfrm>
            <a:off x="1714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5" name="Google Shape;35;p35"/>
          <p:cNvSpPr txBox="1"/>
          <p:nvPr>
            <p:ph idx="13" type="body"/>
          </p:nvPr>
        </p:nvSpPr>
        <p:spPr>
          <a:xfrm>
            <a:off x="1714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6" name="Google Shape;36;p35"/>
          <p:cNvSpPr txBox="1"/>
          <p:nvPr>
            <p:ph idx="14" type="body"/>
          </p:nvPr>
        </p:nvSpPr>
        <p:spPr>
          <a:xfrm>
            <a:off x="12382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7" name="Google Shape;37;p35"/>
          <p:cNvSpPr txBox="1"/>
          <p:nvPr>
            <p:ph idx="15" type="body"/>
          </p:nvPr>
        </p:nvSpPr>
        <p:spPr>
          <a:xfrm>
            <a:off x="12382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8" name="Google Shape;38;p35"/>
          <p:cNvSpPr txBox="1"/>
          <p:nvPr>
            <p:ph idx="16" type="body"/>
          </p:nvPr>
        </p:nvSpPr>
        <p:spPr>
          <a:xfrm>
            <a:off x="12382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9" name="Google Shape;39;p35"/>
          <p:cNvSpPr txBox="1"/>
          <p:nvPr>
            <p:ph idx="17" type="body"/>
          </p:nvPr>
        </p:nvSpPr>
        <p:spPr>
          <a:xfrm>
            <a:off x="7048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0" name="Google Shape;40;p35"/>
          <p:cNvSpPr txBox="1"/>
          <p:nvPr>
            <p:ph idx="18" type="body"/>
          </p:nvPr>
        </p:nvSpPr>
        <p:spPr>
          <a:xfrm>
            <a:off x="7048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1" name="Google Shape;41;p35"/>
          <p:cNvSpPr txBox="1"/>
          <p:nvPr>
            <p:ph idx="19" type="body"/>
          </p:nvPr>
        </p:nvSpPr>
        <p:spPr>
          <a:xfrm>
            <a:off x="7048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2" name="Google Shape;42;p35"/>
          <p:cNvSpPr txBox="1"/>
          <p:nvPr>
            <p:ph idx="20" type="body"/>
          </p:nvPr>
        </p:nvSpPr>
        <p:spPr>
          <a:xfrm>
            <a:off x="1714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3" name="Google Shape;43;p35"/>
          <p:cNvSpPr txBox="1"/>
          <p:nvPr>
            <p:ph idx="21" type="body"/>
          </p:nvPr>
        </p:nvSpPr>
        <p:spPr>
          <a:xfrm>
            <a:off x="1714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4" name="Google Shape;44;p35"/>
          <p:cNvSpPr txBox="1"/>
          <p:nvPr>
            <p:ph idx="22" type="body"/>
          </p:nvPr>
        </p:nvSpPr>
        <p:spPr>
          <a:xfrm>
            <a:off x="1714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صل قسم">
  <p:cSld name="فاصل قسم">
    <p:bg>
      <p:bgPr>
        <a:solidFill>
          <a:srgbClr val="12183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87391"/>
            <a:ext cx="4000500" cy="102551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6"/>
          <p:cNvSpPr txBox="1"/>
          <p:nvPr>
            <p:ph idx="1" type="body"/>
          </p:nvPr>
        </p:nvSpPr>
        <p:spPr>
          <a:xfrm>
            <a:off x="13430250" y="3143250"/>
            <a:ext cx="36195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49" name="Google Shape;49;p36"/>
          <p:cNvSpPr txBox="1"/>
          <p:nvPr>
            <p:ph type="title"/>
          </p:nvPr>
        </p:nvSpPr>
        <p:spPr>
          <a:xfrm>
            <a:off x="4953000" y="4810125"/>
            <a:ext cx="120967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0" name="Google Shape;50;p36"/>
          <p:cNvSpPr txBox="1"/>
          <p:nvPr>
            <p:ph idx="2" type="body"/>
          </p:nvPr>
        </p:nvSpPr>
        <p:spPr>
          <a:xfrm>
            <a:off x="6667500" y="6572250"/>
            <a:ext cx="103822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ربع نقاط">
  <p:cSld name="أربع نقاط">
    <p:bg>
      <p:bgPr>
        <a:solidFill>
          <a:srgbClr val="12183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7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5" name="Google Shape;55;p37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6" name="Google Shape;56;p37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57" name="Google Shape;57;p37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58" name="Google Shape;58;p3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7"/>
          <p:cNvSpPr txBox="1"/>
          <p:nvPr>
            <p:ph idx="3" type="body"/>
          </p:nvPr>
        </p:nvSpPr>
        <p:spPr>
          <a:xfrm>
            <a:off x="9810750" y="3952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0" name="Google Shape;60;p37"/>
          <p:cNvSpPr txBox="1"/>
          <p:nvPr>
            <p:ph idx="4" type="body"/>
          </p:nvPr>
        </p:nvSpPr>
        <p:spPr>
          <a:xfrm>
            <a:off x="9810750" y="4657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1" name="Google Shape;61;p37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2" name="Google Shape;62;p37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3" name="Google Shape;63;p37"/>
          <p:cNvSpPr txBox="1"/>
          <p:nvPr>
            <p:ph idx="7" type="body"/>
          </p:nvPr>
        </p:nvSpPr>
        <p:spPr>
          <a:xfrm>
            <a:off x="9810750" y="6619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4" name="Google Shape;64;p37"/>
          <p:cNvSpPr txBox="1"/>
          <p:nvPr>
            <p:ph idx="8" type="body"/>
          </p:nvPr>
        </p:nvSpPr>
        <p:spPr>
          <a:xfrm>
            <a:off x="9810750" y="7324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5" name="Google Shape;65;p37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66" name="Google Shape;66;p37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رئيسي">
  <p:cSld name="نص رئيسي">
    <p:bg>
      <p:bgPr>
        <a:solidFill>
          <a:srgbClr val="12183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8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1" name="Google Shape;71;p38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2" name="Google Shape;72;p38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73" name="Google Shape;73;p3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8"/>
          <p:cNvSpPr txBox="1"/>
          <p:nvPr>
            <p:ph idx="2" type="body"/>
          </p:nvPr>
        </p:nvSpPr>
        <p:spPr>
          <a:xfrm>
            <a:off x="6191250" y="4000500"/>
            <a:ext cx="1095375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5" name="Google Shape;75;p38"/>
          <p:cNvSpPr txBox="1"/>
          <p:nvPr>
            <p:ph idx="3" type="body"/>
          </p:nvPr>
        </p:nvSpPr>
        <p:spPr>
          <a:xfrm>
            <a:off x="6191250" y="7239000"/>
            <a:ext cx="1095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76" name="Google Shape;76;p38"/>
          <p:cNvSpPr txBox="1"/>
          <p:nvPr>
            <p:ph idx="4" type="body"/>
          </p:nvPr>
        </p:nvSpPr>
        <p:spPr>
          <a:xfrm>
            <a:off x="6191250" y="8001000"/>
            <a:ext cx="10953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وصورة عريضة">
  <p:cSld name="نص وصورة عريضة">
    <p:bg>
      <p:bgPr>
        <a:solidFill>
          <a:srgbClr val="12183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9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1" name="Google Shape;81;p39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2" name="Google Shape;82;p39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83" name="Google Shape;83;p3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9"/>
          <p:cNvSpPr/>
          <p:nvPr>
            <p:ph idx="2" type="pic"/>
          </p:nvPr>
        </p:nvSpPr>
        <p:spPr>
          <a:xfrm>
            <a:off x="1428750" y="4048125"/>
            <a:ext cx="8382000" cy="4714875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9"/>
          <p:cNvSpPr txBox="1"/>
          <p:nvPr>
            <p:ph idx="3" type="body"/>
          </p:nvPr>
        </p:nvSpPr>
        <p:spPr>
          <a:xfrm>
            <a:off x="10763250" y="4095750"/>
            <a:ext cx="6381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6" name="Google Shape;86;p39"/>
          <p:cNvSpPr txBox="1"/>
          <p:nvPr>
            <p:ph idx="4" type="body"/>
          </p:nvPr>
        </p:nvSpPr>
        <p:spPr>
          <a:xfrm>
            <a:off x="10763250" y="4800600"/>
            <a:ext cx="6381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7" name="Google Shape;87;p39"/>
          <p:cNvSpPr txBox="1"/>
          <p:nvPr>
            <p:ph idx="5" type="body"/>
          </p:nvPr>
        </p:nvSpPr>
        <p:spPr>
          <a:xfrm>
            <a:off x="10763250" y="6667500"/>
            <a:ext cx="6381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88" name="Google Shape;88;p39"/>
          <p:cNvSpPr txBox="1"/>
          <p:nvPr>
            <p:ph idx="6" type="body"/>
          </p:nvPr>
        </p:nvSpPr>
        <p:spPr>
          <a:xfrm>
            <a:off x="10763250" y="7372350"/>
            <a:ext cx="6381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نص وصورة مربعة">
  <p:cSld name="نص وصورة مربعة">
    <p:bg>
      <p:bgPr>
        <a:solidFill>
          <a:srgbClr val="12183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0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3" name="Google Shape;93;p40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4" name="Google Shape;94;p40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95" name="Google Shape;95;p4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0"/>
          <p:cNvSpPr/>
          <p:nvPr>
            <p:ph idx="2" type="pic"/>
          </p:nvPr>
        </p:nvSpPr>
        <p:spPr>
          <a:xfrm>
            <a:off x="2190750" y="3476625"/>
            <a:ext cx="5715000" cy="571500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0"/>
          <p:cNvSpPr txBox="1"/>
          <p:nvPr>
            <p:ph idx="3" type="body"/>
          </p:nvPr>
        </p:nvSpPr>
        <p:spPr>
          <a:xfrm>
            <a:off x="10001250" y="3905250"/>
            <a:ext cx="71437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8" name="Google Shape;98;p40"/>
          <p:cNvSpPr txBox="1"/>
          <p:nvPr>
            <p:ph idx="4" type="body"/>
          </p:nvPr>
        </p:nvSpPr>
        <p:spPr>
          <a:xfrm>
            <a:off x="10001250" y="5191125"/>
            <a:ext cx="7143750" cy="2428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99" name="Google Shape;99;p40"/>
          <p:cNvSpPr txBox="1"/>
          <p:nvPr>
            <p:ph idx="5" type="body"/>
          </p:nvPr>
        </p:nvSpPr>
        <p:spPr>
          <a:xfrm>
            <a:off x="10001250" y="8048625"/>
            <a:ext cx="7143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ؤشرات">
  <p:cSld name="مؤشرات">
    <p:bg>
      <p:bgPr>
        <a:solidFill>
          <a:srgbClr val="12183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1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4" name="Google Shape;104;p41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5" name="Google Shape;105;p41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6" name="Google Shape;106;p41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07" name="Google Shape;107;p4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1"/>
          <p:cNvSpPr txBox="1"/>
          <p:nvPr>
            <p:ph idx="3" type="body"/>
          </p:nvPr>
        </p:nvSpPr>
        <p:spPr>
          <a:xfrm>
            <a:off x="13716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09" name="Google Shape;109;p41"/>
          <p:cNvSpPr txBox="1"/>
          <p:nvPr>
            <p:ph idx="4" type="body"/>
          </p:nvPr>
        </p:nvSpPr>
        <p:spPr>
          <a:xfrm>
            <a:off x="13716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0" name="Google Shape;110;p41"/>
          <p:cNvSpPr txBox="1"/>
          <p:nvPr>
            <p:ph idx="5" type="body"/>
          </p:nvPr>
        </p:nvSpPr>
        <p:spPr>
          <a:xfrm>
            <a:off x="13716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1" name="Google Shape;111;p41"/>
          <p:cNvSpPr txBox="1"/>
          <p:nvPr>
            <p:ph idx="6" type="body"/>
          </p:nvPr>
        </p:nvSpPr>
        <p:spPr>
          <a:xfrm>
            <a:off x="9715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2" name="Google Shape;112;p41"/>
          <p:cNvSpPr txBox="1"/>
          <p:nvPr>
            <p:ph idx="7" type="body"/>
          </p:nvPr>
        </p:nvSpPr>
        <p:spPr>
          <a:xfrm>
            <a:off x="9715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3" name="Google Shape;113;p41"/>
          <p:cNvSpPr txBox="1"/>
          <p:nvPr>
            <p:ph idx="8" type="body"/>
          </p:nvPr>
        </p:nvSpPr>
        <p:spPr>
          <a:xfrm>
            <a:off x="9715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4" name="Google Shape;114;p41"/>
          <p:cNvSpPr txBox="1"/>
          <p:nvPr>
            <p:ph idx="9" type="body"/>
          </p:nvPr>
        </p:nvSpPr>
        <p:spPr>
          <a:xfrm>
            <a:off x="5715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5" name="Google Shape;115;p41"/>
          <p:cNvSpPr txBox="1"/>
          <p:nvPr>
            <p:ph idx="13" type="body"/>
          </p:nvPr>
        </p:nvSpPr>
        <p:spPr>
          <a:xfrm>
            <a:off x="5715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6" name="Google Shape;116;p41"/>
          <p:cNvSpPr txBox="1"/>
          <p:nvPr>
            <p:ph idx="14" type="body"/>
          </p:nvPr>
        </p:nvSpPr>
        <p:spPr>
          <a:xfrm>
            <a:off x="5715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7" name="Google Shape;117;p41"/>
          <p:cNvSpPr txBox="1"/>
          <p:nvPr>
            <p:ph idx="15" type="body"/>
          </p:nvPr>
        </p:nvSpPr>
        <p:spPr>
          <a:xfrm>
            <a:off x="1714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8" name="Google Shape;118;p41"/>
          <p:cNvSpPr txBox="1"/>
          <p:nvPr>
            <p:ph idx="16" type="body"/>
          </p:nvPr>
        </p:nvSpPr>
        <p:spPr>
          <a:xfrm>
            <a:off x="1714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19" name="Google Shape;119;p41"/>
          <p:cNvSpPr txBox="1"/>
          <p:nvPr>
            <p:ph idx="17" type="body"/>
          </p:nvPr>
        </p:nvSpPr>
        <p:spPr>
          <a:xfrm>
            <a:off x="1714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0" name="Google Shape;120;p41"/>
          <p:cNvSpPr txBox="1"/>
          <p:nvPr>
            <p:ph idx="18" type="body"/>
          </p:nvPr>
        </p:nvSpPr>
        <p:spPr>
          <a:xfrm>
            <a:off x="1714500" y="8763000"/>
            <a:ext cx="15430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رسالة رئيسية">
  <p:cSld name="رسالة رئيسية">
    <p:bg>
      <p:bgPr>
        <a:solidFill>
          <a:srgbClr val="F2F4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873" y="685800"/>
            <a:ext cx="3994355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2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25" name="Google Shape;125;p42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2"/>
          <p:cNvSpPr txBox="1"/>
          <p:nvPr>
            <p:ph type="title"/>
          </p:nvPr>
        </p:nvSpPr>
        <p:spPr>
          <a:xfrm>
            <a:off x="2476500" y="3143250"/>
            <a:ext cx="1333500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7" name="Google Shape;127;p42"/>
          <p:cNvSpPr txBox="1"/>
          <p:nvPr>
            <p:ph idx="1" type="body"/>
          </p:nvPr>
        </p:nvSpPr>
        <p:spPr>
          <a:xfrm>
            <a:off x="3333750" y="6905625"/>
            <a:ext cx="11620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28" name="Google Shape;128;p42"/>
          <p:cNvSpPr txBox="1"/>
          <p:nvPr>
            <p:ph idx="2" type="body"/>
          </p:nvPr>
        </p:nvSpPr>
        <p:spPr>
          <a:xfrm>
            <a:off x="3333750" y="8239125"/>
            <a:ext cx="11620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جدول داكن">
  <p:cSld name="جدول داكن">
    <p:bg>
      <p:bgPr>
        <a:solidFill>
          <a:srgbClr val="12183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3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3" name="Google Shape;133;p43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4" name="Google Shape;134;p43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5" name="Google Shape;135;p43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36" name="Google Shape;136;p4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3"/>
          <p:cNvSpPr txBox="1"/>
          <p:nvPr>
            <p:ph idx="3" type="body"/>
          </p:nvPr>
        </p:nvSpPr>
        <p:spPr>
          <a:xfrm>
            <a:off x="17145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38" name="Google Shape;138;p43"/>
          <p:cNvSpPr/>
          <p:nvPr>
            <p:ph idx="4" type="tbl"/>
          </p:nvPr>
        </p:nvSpPr>
        <p:spPr>
          <a:xfrm>
            <a:off x="1714500" y="3905250"/>
            <a:ext cx="15430500" cy="447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خط زمني">
  <p:cSld name="خط زمني">
    <p:bg>
      <p:bgPr>
        <a:solidFill>
          <a:srgbClr val="12183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4"/>
          <p:cNvSpPr/>
          <p:nvPr/>
        </p:nvSpPr>
        <p:spPr>
          <a:xfrm>
            <a:off x="142875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4"/>
          <p:cNvSpPr/>
          <p:nvPr/>
        </p:nvSpPr>
        <p:spPr>
          <a:xfrm>
            <a:off x="1114425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4"/>
          <p:cNvSpPr/>
          <p:nvPr/>
        </p:nvSpPr>
        <p:spPr>
          <a:xfrm>
            <a:off x="80010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4"/>
          <p:cNvSpPr/>
          <p:nvPr/>
        </p:nvSpPr>
        <p:spPr>
          <a:xfrm>
            <a:off x="485775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4"/>
          <p:cNvSpPr/>
          <p:nvPr/>
        </p:nvSpPr>
        <p:spPr>
          <a:xfrm>
            <a:off x="1714500" y="4667250"/>
            <a:ext cx="2857500" cy="47625"/>
          </a:xfrm>
          <a:prstGeom prst="rect">
            <a:avLst/>
          </a:prstGeom>
          <a:solidFill>
            <a:srgbClr val="6150EA"/>
          </a:solidFill>
          <a:ln cap="flat" cmpd="sng" w="11425">
            <a:solidFill>
              <a:srgbClr val="6150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4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48" name="Google Shape;148;p44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49" name="Google Shape;149;p44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0" name="Google Shape;150;p44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51" name="Google Shape;151;p4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4"/>
          <p:cNvSpPr txBox="1"/>
          <p:nvPr>
            <p:ph idx="3" type="body"/>
          </p:nvPr>
        </p:nvSpPr>
        <p:spPr>
          <a:xfrm>
            <a:off x="142875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3" name="Google Shape;153;p44"/>
          <p:cNvSpPr txBox="1"/>
          <p:nvPr>
            <p:ph idx="4" type="body"/>
          </p:nvPr>
        </p:nvSpPr>
        <p:spPr>
          <a:xfrm>
            <a:off x="142875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4" name="Google Shape;154;p44"/>
          <p:cNvSpPr txBox="1"/>
          <p:nvPr>
            <p:ph idx="5" type="body"/>
          </p:nvPr>
        </p:nvSpPr>
        <p:spPr>
          <a:xfrm>
            <a:off x="142875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5" name="Google Shape;155;p44"/>
          <p:cNvSpPr txBox="1"/>
          <p:nvPr>
            <p:ph idx="6" type="body"/>
          </p:nvPr>
        </p:nvSpPr>
        <p:spPr>
          <a:xfrm>
            <a:off x="142875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6" name="Google Shape;156;p44"/>
          <p:cNvSpPr txBox="1"/>
          <p:nvPr>
            <p:ph idx="7" type="body"/>
          </p:nvPr>
        </p:nvSpPr>
        <p:spPr>
          <a:xfrm>
            <a:off x="111442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7" name="Google Shape;157;p44"/>
          <p:cNvSpPr txBox="1"/>
          <p:nvPr>
            <p:ph idx="8" type="body"/>
          </p:nvPr>
        </p:nvSpPr>
        <p:spPr>
          <a:xfrm>
            <a:off x="1114425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8" name="Google Shape;158;p44"/>
          <p:cNvSpPr txBox="1"/>
          <p:nvPr>
            <p:ph idx="9" type="body"/>
          </p:nvPr>
        </p:nvSpPr>
        <p:spPr>
          <a:xfrm>
            <a:off x="111442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59" name="Google Shape;159;p44"/>
          <p:cNvSpPr txBox="1"/>
          <p:nvPr>
            <p:ph idx="13" type="body"/>
          </p:nvPr>
        </p:nvSpPr>
        <p:spPr>
          <a:xfrm>
            <a:off x="1114425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0" name="Google Shape;160;p44"/>
          <p:cNvSpPr txBox="1"/>
          <p:nvPr>
            <p:ph idx="14" type="body"/>
          </p:nvPr>
        </p:nvSpPr>
        <p:spPr>
          <a:xfrm>
            <a:off x="80010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1" name="Google Shape;161;p44"/>
          <p:cNvSpPr txBox="1"/>
          <p:nvPr>
            <p:ph idx="15" type="body"/>
          </p:nvPr>
        </p:nvSpPr>
        <p:spPr>
          <a:xfrm>
            <a:off x="80010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2" name="Google Shape;162;p44"/>
          <p:cNvSpPr txBox="1"/>
          <p:nvPr>
            <p:ph idx="16" type="body"/>
          </p:nvPr>
        </p:nvSpPr>
        <p:spPr>
          <a:xfrm>
            <a:off x="80010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3" name="Google Shape;163;p44"/>
          <p:cNvSpPr txBox="1"/>
          <p:nvPr>
            <p:ph idx="17" type="body"/>
          </p:nvPr>
        </p:nvSpPr>
        <p:spPr>
          <a:xfrm>
            <a:off x="80010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4" name="Google Shape;164;p44"/>
          <p:cNvSpPr txBox="1"/>
          <p:nvPr>
            <p:ph idx="18" type="body"/>
          </p:nvPr>
        </p:nvSpPr>
        <p:spPr>
          <a:xfrm>
            <a:off x="48577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5" name="Google Shape;165;p44"/>
          <p:cNvSpPr txBox="1"/>
          <p:nvPr>
            <p:ph idx="19" type="body"/>
          </p:nvPr>
        </p:nvSpPr>
        <p:spPr>
          <a:xfrm>
            <a:off x="485775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6" name="Google Shape;166;p44"/>
          <p:cNvSpPr txBox="1"/>
          <p:nvPr>
            <p:ph idx="20" type="body"/>
          </p:nvPr>
        </p:nvSpPr>
        <p:spPr>
          <a:xfrm>
            <a:off x="48577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7" name="Google Shape;167;p44"/>
          <p:cNvSpPr txBox="1"/>
          <p:nvPr>
            <p:ph idx="21" type="body"/>
          </p:nvPr>
        </p:nvSpPr>
        <p:spPr>
          <a:xfrm>
            <a:off x="485775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8" name="Google Shape;168;p44"/>
          <p:cNvSpPr txBox="1"/>
          <p:nvPr>
            <p:ph idx="22" type="body"/>
          </p:nvPr>
        </p:nvSpPr>
        <p:spPr>
          <a:xfrm>
            <a:off x="17145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69" name="Google Shape;169;p44"/>
          <p:cNvSpPr txBox="1"/>
          <p:nvPr>
            <p:ph idx="23" type="body"/>
          </p:nvPr>
        </p:nvSpPr>
        <p:spPr>
          <a:xfrm>
            <a:off x="17145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0" name="Google Shape;170;p44"/>
          <p:cNvSpPr txBox="1"/>
          <p:nvPr>
            <p:ph idx="24" type="body"/>
          </p:nvPr>
        </p:nvSpPr>
        <p:spPr>
          <a:xfrm>
            <a:off x="17145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1" name="Google Shape;171;p44"/>
          <p:cNvSpPr txBox="1"/>
          <p:nvPr>
            <p:ph idx="25" type="body"/>
          </p:nvPr>
        </p:nvSpPr>
        <p:spPr>
          <a:xfrm>
            <a:off x="17145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ريق العمل">
  <p:cSld name="فريق العمل">
    <p:bg>
      <p:bgPr>
        <a:solidFill>
          <a:srgbClr val="12183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45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6" name="Google Shape;176;p45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7" name="Google Shape;177;p45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78" name="Google Shape;178;p4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79" name="Google Shape;179;p4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5"/>
          <p:cNvSpPr/>
          <p:nvPr>
            <p:ph idx="3" type="pic"/>
          </p:nvPr>
        </p:nvSpPr>
        <p:spPr>
          <a:xfrm>
            <a:off x="141922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45"/>
          <p:cNvSpPr txBox="1"/>
          <p:nvPr>
            <p:ph idx="4" type="body"/>
          </p:nvPr>
        </p:nvSpPr>
        <p:spPr>
          <a:xfrm>
            <a:off x="13716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2" name="Google Shape;182;p45"/>
          <p:cNvSpPr txBox="1"/>
          <p:nvPr>
            <p:ph idx="5" type="body"/>
          </p:nvPr>
        </p:nvSpPr>
        <p:spPr>
          <a:xfrm>
            <a:off x="13716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3" name="Google Shape;183;p45"/>
          <p:cNvSpPr/>
          <p:nvPr>
            <p:ph idx="6" type="pic"/>
          </p:nvPr>
        </p:nvSpPr>
        <p:spPr>
          <a:xfrm>
            <a:off x="101917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45"/>
          <p:cNvSpPr txBox="1"/>
          <p:nvPr>
            <p:ph idx="7" type="body"/>
          </p:nvPr>
        </p:nvSpPr>
        <p:spPr>
          <a:xfrm>
            <a:off x="9715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5" name="Google Shape;185;p45"/>
          <p:cNvSpPr txBox="1"/>
          <p:nvPr>
            <p:ph idx="8" type="body"/>
          </p:nvPr>
        </p:nvSpPr>
        <p:spPr>
          <a:xfrm>
            <a:off x="9715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6" name="Google Shape;186;p45"/>
          <p:cNvSpPr/>
          <p:nvPr>
            <p:ph idx="9" type="pic"/>
          </p:nvPr>
        </p:nvSpPr>
        <p:spPr>
          <a:xfrm>
            <a:off x="61912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45"/>
          <p:cNvSpPr txBox="1"/>
          <p:nvPr>
            <p:ph idx="13" type="body"/>
          </p:nvPr>
        </p:nvSpPr>
        <p:spPr>
          <a:xfrm>
            <a:off x="5715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8" name="Google Shape;188;p45"/>
          <p:cNvSpPr txBox="1"/>
          <p:nvPr>
            <p:ph idx="14" type="body"/>
          </p:nvPr>
        </p:nvSpPr>
        <p:spPr>
          <a:xfrm>
            <a:off x="5715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89" name="Google Shape;189;p45"/>
          <p:cNvSpPr/>
          <p:nvPr>
            <p:ph idx="15" type="pic"/>
          </p:nvPr>
        </p:nvSpPr>
        <p:spPr>
          <a:xfrm>
            <a:off x="21907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45"/>
          <p:cNvSpPr txBox="1"/>
          <p:nvPr>
            <p:ph idx="16" type="body"/>
          </p:nvPr>
        </p:nvSpPr>
        <p:spPr>
          <a:xfrm>
            <a:off x="1714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1" name="Google Shape;191;p45"/>
          <p:cNvSpPr txBox="1"/>
          <p:nvPr>
            <p:ph idx="17" type="body"/>
          </p:nvPr>
        </p:nvSpPr>
        <p:spPr>
          <a:xfrm>
            <a:off x="1714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ربع نقاط فاتحة">
  <p:cSld name="أربع نقاط فاتحة">
    <p:bg>
      <p:bgPr>
        <a:solidFill>
          <a:srgbClr val="F2F4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187" y="685800"/>
            <a:ext cx="2888226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46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6" name="Google Shape;196;p46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7" name="Google Shape;197;p46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198" name="Google Shape;198;p46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199" name="Google Shape;199;p4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6"/>
          <p:cNvSpPr txBox="1"/>
          <p:nvPr>
            <p:ph idx="3" type="body"/>
          </p:nvPr>
        </p:nvSpPr>
        <p:spPr>
          <a:xfrm>
            <a:off x="9810750" y="3952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1" name="Google Shape;201;p46"/>
          <p:cNvSpPr txBox="1"/>
          <p:nvPr>
            <p:ph idx="4" type="body"/>
          </p:nvPr>
        </p:nvSpPr>
        <p:spPr>
          <a:xfrm>
            <a:off x="9810750" y="4657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2" name="Google Shape;202;p46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3" name="Google Shape;203;p46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4" name="Google Shape;204;p46"/>
          <p:cNvSpPr txBox="1"/>
          <p:nvPr>
            <p:ph idx="7" type="body"/>
          </p:nvPr>
        </p:nvSpPr>
        <p:spPr>
          <a:xfrm>
            <a:off x="9810750" y="6619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5" name="Google Shape;205;p46"/>
          <p:cNvSpPr txBox="1"/>
          <p:nvPr>
            <p:ph idx="8" type="body"/>
          </p:nvPr>
        </p:nvSpPr>
        <p:spPr>
          <a:xfrm>
            <a:off x="9810750" y="7324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6" name="Google Shape;206;p46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07" name="Google Shape;207;p46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جدول فاتح">
  <p:cSld name="جدول فاتح">
    <p:bg>
      <p:bgPr>
        <a:solidFill>
          <a:srgbClr val="F2F4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187" y="685800"/>
            <a:ext cx="2888226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47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2" name="Google Shape;212;p47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3" name="Google Shape;213;p47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4" name="Google Shape;214;p47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15" name="Google Shape;215;p4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7"/>
          <p:cNvSpPr txBox="1"/>
          <p:nvPr>
            <p:ph idx="3" type="body"/>
          </p:nvPr>
        </p:nvSpPr>
        <p:spPr>
          <a:xfrm>
            <a:off x="17145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17" name="Google Shape;217;p47"/>
          <p:cNvSpPr/>
          <p:nvPr>
            <p:ph idx="4" type="tbl"/>
          </p:nvPr>
        </p:nvSpPr>
        <p:spPr>
          <a:xfrm>
            <a:off x="1714500" y="3905250"/>
            <a:ext cx="15430500" cy="447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قارنة بالأعمدة">
  <p:cSld name="مقارنة بالأعمدة">
    <p:bg>
      <p:bgPr>
        <a:solidFill>
          <a:srgbClr val="12183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8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2" name="Google Shape;222;p48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3" name="Google Shape;223;p48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4" name="Google Shape;224;p48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25" name="Google Shape;225;p4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8"/>
          <p:cNvSpPr txBox="1"/>
          <p:nvPr>
            <p:ph idx="3" type="body"/>
          </p:nvPr>
        </p:nvSpPr>
        <p:spPr>
          <a:xfrm>
            <a:off x="2095500" y="8905875"/>
            <a:ext cx="14192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27" name="Google Shape;227;p48"/>
          <p:cNvSpPr/>
          <p:nvPr>
            <p:ph idx="4" type="chart"/>
          </p:nvPr>
        </p:nvSpPr>
        <p:spPr>
          <a:xfrm>
            <a:off x="2095500" y="3905250"/>
            <a:ext cx="14192250" cy="485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توزيع نسبي">
  <p:cSld name="توزيع نسبي">
    <p:bg>
      <p:bgPr>
        <a:solidFill>
          <a:srgbClr val="12183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2" name="Google Shape;232;p49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3" name="Google Shape;233;p49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4" name="Google Shape;234;p49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35" name="Google Shape;235;p4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9"/>
          <p:cNvSpPr txBox="1"/>
          <p:nvPr>
            <p:ph idx="3" type="body"/>
          </p:nvPr>
        </p:nvSpPr>
        <p:spPr>
          <a:xfrm>
            <a:off x="1714500" y="890587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37" name="Google Shape;237;p49"/>
          <p:cNvSpPr/>
          <p:nvPr>
            <p:ph idx="4" type="chart"/>
          </p:nvPr>
        </p:nvSpPr>
        <p:spPr>
          <a:xfrm>
            <a:off x="2095500" y="3619500"/>
            <a:ext cx="14097000" cy="538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54000" spcFirstLastPara="1" rIns="254000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آلية العمل">
  <p:cSld name="آلية العمل">
    <p:bg>
      <p:bgPr>
        <a:solidFill>
          <a:srgbClr val="12183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0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2" name="Google Shape;242;p50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3" name="Google Shape;243;p50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4" name="Google Shape;244;p50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45" name="Google Shape;245;p5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0"/>
          <p:cNvSpPr txBox="1"/>
          <p:nvPr>
            <p:ph idx="3" type="body"/>
          </p:nvPr>
        </p:nvSpPr>
        <p:spPr>
          <a:xfrm>
            <a:off x="137160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7" name="Google Shape;247;p50"/>
          <p:cNvSpPr txBox="1"/>
          <p:nvPr>
            <p:ph idx="4" type="body"/>
          </p:nvPr>
        </p:nvSpPr>
        <p:spPr>
          <a:xfrm>
            <a:off x="97155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8" name="Google Shape;248;p50"/>
          <p:cNvSpPr txBox="1"/>
          <p:nvPr>
            <p:ph idx="5" type="body"/>
          </p:nvPr>
        </p:nvSpPr>
        <p:spPr>
          <a:xfrm>
            <a:off x="57150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49" name="Google Shape;249;p50"/>
          <p:cNvSpPr txBox="1"/>
          <p:nvPr>
            <p:ph idx="6" type="body"/>
          </p:nvPr>
        </p:nvSpPr>
        <p:spPr>
          <a:xfrm>
            <a:off x="1714500" y="4333875"/>
            <a:ext cx="3429000" cy="3714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323D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38125" lIns="266700" spcFirstLastPara="1" rIns="266700" wrap="square" tIns="238125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صورة كبيرة">
  <p:cSld name="صورة كبيرة">
    <p:bg>
      <p:bgPr>
        <a:solidFill>
          <a:srgbClr val="12183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1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53" name="Google Shape;253;p5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51"/>
          <p:cNvSpPr/>
          <p:nvPr>
            <p:ph idx="2" type="pic"/>
          </p:nvPr>
        </p:nvSpPr>
        <p:spPr>
          <a:xfrm>
            <a:off x="1047750" y="666750"/>
            <a:ext cx="16192500" cy="6953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51"/>
          <p:cNvSpPr txBox="1"/>
          <p:nvPr>
            <p:ph type="title"/>
          </p:nvPr>
        </p:nvSpPr>
        <p:spPr>
          <a:xfrm>
            <a:off x="2190750" y="7962900"/>
            <a:ext cx="147637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56" name="Google Shape;256;p51"/>
          <p:cNvSpPr txBox="1"/>
          <p:nvPr>
            <p:ph idx="1" type="body"/>
          </p:nvPr>
        </p:nvSpPr>
        <p:spPr>
          <a:xfrm>
            <a:off x="2190750" y="8896350"/>
            <a:ext cx="14763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عرض الصور">
  <p:cSld name="معرض الصور">
    <p:bg>
      <p:bgPr>
        <a:solidFill>
          <a:srgbClr val="12183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52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1" name="Google Shape;261;p52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2" name="Google Shape;262;p52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63" name="Google Shape;263;p52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52"/>
          <p:cNvSpPr/>
          <p:nvPr>
            <p:ph idx="2" type="pic"/>
          </p:nvPr>
        </p:nvSpPr>
        <p:spPr>
          <a:xfrm>
            <a:off x="12382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52"/>
          <p:cNvSpPr txBox="1"/>
          <p:nvPr>
            <p:ph idx="3" type="body"/>
          </p:nvPr>
        </p:nvSpPr>
        <p:spPr>
          <a:xfrm>
            <a:off x="12382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6" name="Google Shape;266;p52"/>
          <p:cNvSpPr/>
          <p:nvPr>
            <p:ph idx="4" type="pic"/>
          </p:nvPr>
        </p:nvSpPr>
        <p:spPr>
          <a:xfrm>
            <a:off x="7048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52"/>
          <p:cNvSpPr txBox="1"/>
          <p:nvPr>
            <p:ph idx="5" type="body"/>
          </p:nvPr>
        </p:nvSpPr>
        <p:spPr>
          <a:xfrm>
            <a:off x="7048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68" name="Google Shape;268;p52"/>
          <p:cNvSpPr/>
          <p:nvPr>
            <p:ph idx="6" type="pic"/>
          </p:nvPr>
        </p:nvSpPr>
        <p:spPr>
          <a:xfrm>
            <a:off x="1714500" y="3714750"/>
            <a:ext cx="4762500" cy="42862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52"/>
          <p:cNvSpPr txBox="1"/>
          <p:nvPr>
            <p:ph idx="7" type="body"/>
          </p:nvPr>
        </p:nvSpPr>
        <p:spPr>
          <a:xfrm>
            <a:off x="1714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أيقونات الهوية">
  <p:cSld name="أيقونات الهوية">
    <p:bg>
      <p:bgPr>
        <a:solidFill>
          <a:srgbClr val="12183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53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4" name="Google Shape;274;p53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5" name="Google Shape;275;p53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6" name="Google Shape;276;p53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77" name="Google Shape;277;p53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3"/>
          <p:cNvSpPr txBox="1"/>
          <p:nvPr>
            <p:ph idx="3" type="body"/>
          </p:nvPr>
        </p:nvSpPr>
        <p:spPr>
          <a:xfrm>
            <a:off x="137160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79" name="Google Shape;279;p53"/>
          <p:cNvSpPr txBox="1"/>
          <p:nvPr>
            <p:ph idx="4" type="body"/>
          </p:nvPr>
        </p:nvSpPr>
        <p:spPr>
          <a:xfrm>
            <a:off x="137160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0" name="Google Shape;280;p53"/>
          <p:cNvSpPr txBox="1"/>
          <p:nvPr>
            <p:ph idx="5" type="body"/>
          </p:nvPr>
        </p:nvSpPr>
        <p:spPr>
          <a:xfrm>
            <a:off x="97155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1" name="Google Shape;281;p53"/>
          <p:cNvSpPr txBox="1"/>
          <p:nvPr>
            <p:ph idx="6" type="body"/>
          </p:nvPr>
        </p:nvSpPr>
        <p:spPr>
          <a:xfrm>
            <a:off x="97155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2" name="Google Shape;282;p53"/>
          <p:cNvSpPr txBox="1"/>
          <p:nvPr>
            <p:ph idx="7" type="body"/>
          </p:nvPr>
        </p:nvSpPr>
        <p:spPr>
          <a:xfrm>
            <a:off x="57150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3" name="Google Shape;283;p53"/>
          <p:cNvSpPr txBox="1"/>
          <p:nvPr>
            <p:ph idx="8" type="body"/>
          </p:nvPr>
        </p:nvSpPr>
        <p:spPr>
          <a:xfrm>
            <a:off x="57150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4" name="Google Shape;284;p53"/>
          <p:cNvSpPr txBox="1"/>
          <p:nvPr>
            <p:ph idx="9" type="body"/>
          </p:nvPr>
        </p:nvSpPr>
        <p:spPr>
          <a:xfrm>
            <a:off x="17145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85" name="Google Shape;285;p53"/>
          <p:cNvSpPr txBox="1"/>
          <p:nvPr>
            <p:ph idx="13" type="body"/>
          </p:nvPr>
        </p:nvSpPr>
        <p:spPr>
          <a:xfrm>
            <a:off x="17145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قارنة خيارين">
  <p:cSld name="مقارنة خيارين">
    <p:bg>
      <p:bgPr>
        <a:solidFill>
          <a:srgbClr val="12183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54"/>
          <p:cNvSpPr txBox="1"/>
          <p:nvPr>
            <p:ph idx="1" type="body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0" name="Google Shape;290;p54"/>
          <p:cNvSpPr txBox="1"/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1" name="Google Shape;291;p54"/>
          <p:cNvSpPr txBox="1"/>
          <p:nvPr>
            <p:ph idx="2" type="body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2" name="Google Shape;292;p54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293" name="Google Shape;293;p5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4"/>
          <p:cNvSpPr txBox="1"/>
          <p:nvPr>
            <p:ph idx="3" type="body"/>
          </p:nvPr>
        </p:nvSpPr>
        <p:spPr>
          <a:xfrm>
            <a:off x="10001250" y="3857625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5" name="Google Shape;295;p54"/>
          <p:cNvSpPr txBox="1"/>
          <p:nvPr>
            <p:ph idx="4" type="body"/>
          </p:nvPr>
        </p:nvSpPr>
        <p:spPr>
          <a:xfrm>
            <a:off x="10001250" y="4562475"/>
            <a:ext cx="7143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6" name="Google Shape;296;p54"/>
          <p:cNvSpPr txBox="1"/>
          <p:nvPr>
            <p:ph idx="5" type="body"/>
          </p:nvPr>
        </p:nvSpPr>
        <p:spPr>
          <a:xfrm>
            <a:off x="1714500" y="3857625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7" name="Google Shape;297;p54"/>
          <p:cNvSpPr txBox="1"/>
          <p:nvPr>
            <p:ph idx="6" type="body"/>
          </p:nvPr>
        </p:nvSpPr>
        <p:spPr>
          <a:xfrm>
            <a:off x="1714500" y="4562475"/>
            <a:ext cx="71437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8" name="Google Shape;298;p54"/>
          <p:cNvSpPr txBox="1"/>
          <p:nvPr>
            <p:ph idx="7" type="body"/>
          </p:nvPr>
        </p:nvSpPr>
        <p:spPr>
          <a:xfrm>
            <a:off x="10001250" y="5905500"/>
            <a:ext cx="714375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299" name="Google Shape;299;p54"/>
          <p:cNvSpPr txBox="1"/>
          <p:nvPr>
            <p:ph idx="8" type="body"/>
          </p:nvPr>
        </p:nvSpPr>
        <p:spPr>
          <a:xfrm>
            <a:off x="1714500" y="5905500"/>
            <a:ext cx="7143750" cy="2952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رغة داكنة">
  <p:cSld name="فارغة داكنة">
    <p:bg>
      <p:bgPr>
        <a:solidFill>
          <a:srgbClr val="12183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722542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5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304" name="Google Shape;304;p5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رغة فاتحة">
  <p:cSld name="فارغة فاتحة">
    <p:bg>
      <p:bgPr>
        <a:solidFill>
          <a:srgbClr val="F2F4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5010" y="685800"/>
            <a:ext cx="3072581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56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sp>
        <p:nvSpPr>
          <p:cNvPr id="309" name="Google Shape;309;p56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0" lvl="1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0" lvl="2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0" lvl="3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0" lvl="4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0" lvl="5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0" lvl="6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0" lvl="7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0" lvl="8" marL="0" marR="0" rtl="0" algn="l">
              <a:spcBef>
                <a:spcPts val="0"/>
              </a:spcBef>
              <a:buNone/>
              <a:defRPr b="0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ختام العرض">
  <p:cSld name="ختام العرض">
    <p:bg>
      <p:bgPr>
        <a:solidFill>
          <a:srgbClr val="12183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0" y="1336151"/>
            <a:ext cx="6667500" cy="1709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9485" y="8524875"/>
            <a:ext cx="3045029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57"/>
          <p:cNvPicPr preferRelativeResize="0"/>
          <p:nvPr/>
        </p:nvPicPr>
        <p:blipFill rotWithShape="1">
          <a:blip r:embed="rId5">
            <a:alphaModFix/>
          </a:blip>
          <a:srcRect b="16000" l="4300" r="69700" t="16000"/>
          <a:stretch/>
        </p:blipFill>
        <p:spPr>
          <a:xfrm>
            <a:off x="4857750" y="8629650"/>
            <a:ext cx="3810000" cy="14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57"/>
          <p:cNvSpPr txBox="1"/>
          <p:nvPr>
            <p:ph type="title"/>
          </p:nvPr>
        </p:nvSpPr>
        <p:spPr>
          <a:xfrm>
            <a:off x="3810000" y="4048125"/>
            <a:ext cx="10668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6" name="Google Shape;316;p57"/>
          <p:cNvSpPr txBox="1"/>
          <p:nvPr>
            <p:ph idx="1" type="body"/>
          </p:nvPr>
        </p:nvSpPr>
        <p:spPr>
          <a:xfrm>
            <a:off x="3810000" y="5905500"/>
            <a:ext cx="10668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  <p:sp>
        <p:nvSpPr>
          <p:cNvPr id="317" name="Google Shape;317;p57"/>
          <p:cNvSpPr txBox="1"/>
          <p:nvPr>
            <p:ph idx="2" type="body"/>
          </p:nvPr>
        </p:nvSpPr>
        <p:spPr>
          <a:xfrm>
            <a:off x="3810000" y="7000875"/>
            <a:ext cx="10668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3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25.png"/><Relationship Id="rId8" Type="http://schemas.openxmlformats.org/officeDocument/2006/relationships/image" Target="../media/image22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8" title="الصورة الرئيسية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975" y="1103475"/>
            <a:ext cx="9312476" cy="8603123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8"/>
          <p:cNvSpPr txBox="1"/>
          <p:nvPr>
            <p:ph type="title"/>
          </p:nvPr>
        </p:nvSpPr>
        <p:spPr>
          <a:xfrm>
            <a:off x="7791450" y="3524250"/>
            <a:ext cx="90489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50"/>
              <a:buNone/>
            </a:pPr>
            <a:r>
              <a:rPr b="1" lang="ar-SA" sz="64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شجرة الأسانيد الذكية</a:t>
            </a:r>
            <a:endParaRPr/>
          </a:p>
        </p:txBody>
      </p:sp>
      <p:sp>
        <p:nvSpPr>
          <p:cNvPr id="487" name="Google Shape;487;p8"/>
          <p:cNvSpPr txBox="1"/>
          <p:nvPr>
            <p:ph idx="1" type="body"/>
          </p:nvPr>
        </p:nvSpPr>
        <p:spPr>
          <a:xfrm>
            <a:off x="7791450" y="5334000"/>
            <a:ext cx="9048900" cy="16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b="0" lang="ar-SA" sz="33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نرسم الإسناد ونفحصه، ونُظهر مصدر كل معلومة وحالة دليلها، ونحيل عند غياب المرجع</a:t>
            </a:r>
            <a:endParaRPr/>
          </a:p>
        </p:txBody>
      </p:sp>
      <p:sp>
        <p:nvSpPr>
          <p:cNvPr id="488" name="Google Shape;488;p8"/>
          <p:cNvSpPr/>
          <p:nvPr/>
        </p:nvSpPr>
        <p:spPr>
          <a:xfrm>
            <a:off x="1143000" y="8843963"/>
            <a:ext cx="16002000" cy="9600"/>
          </a:xfrm>
          <a:prstGeom prst="rect">
            <a:avLst/>
          </a:prstGeom>
          <a:solidFill>
            <a:srgbClr val="FFFFFF">
              <a:alpha val="12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8"/>
          <p:cNvSpPr/>
          <p:nvPr/>
        </p:nvSpPr>
        <p:spPr>
          <a:xfrm>
            <a:off x="14472130" y="9120188"/>
            <a:ext cx="2358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E99CC"/>
              </a:buClr>
              <a:buSzPts val="1950"/>
              <a:buFont typeface="Readex Pro"/>
              <a:buNone/>
            </a:pPr>
            <a:r>
              <a:rPr lang="ar-SA" sz="1950">
                <a:solidFill>
                  <a:srgbClr val="8E99CC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المسار 04</a:t>
            </a:r>
            <a:endParaRPr i="0" sz="1950" u="none" cap="none" strike="noStrike">
              <a:solidFill>
                <a:srgbClr val="000000"/>
              </a:solidFill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490" name="Google Shape;490;p8"/>
          <p:cNvSpPr/>
          <p:nvPr/>
        </p:nvSpPr>
        <p:spPr>
          <a:xfrm>
            <a:off x="1397000" y="9120188"/>
            <a:ext cx="2765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E99CC"/>
              </a:buClr>
              <a:buSzPts val="1950"/>
              <a:buFont typeface="Readex Pro"/>
              <a:buNone/>
            </a:pPr>
            <a:r>
              <a:rPr lang="ar-SA" sz="1950">
                <a:solidFill>
                  <a:srgbClr val="8E99CC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أكتوبر 2026</a:t>
            </a:r>
            <a:endParaRPr i="0" sz="1950" u="none" cap="none" strike="noStrike">
              <a:solidFill>
                <a:srgbClr val="000000"/>
              </a:solidFill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pic>
        <p:nvPicPr>
          <p:cNvPr id="491" name="Google Shape;49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8250" y="691134"/>
            <a:ext cx="6572252" cy="1684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954250" y="840995"/>
            <a:ext cx="2190750" cy="1385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12"/>
          <p:cNvSpPr/>
          <p:nvPr/>
        </p:nvSpPr>
        <p:spPr>
          <a:xfrm>
            <a:off x="73914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558" name="Google Shape;55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12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المشكلة والمستفيد</a:t>
            </a:r>
            <a:endParaRPr/>
          </a:p>
        </p:txBody>
      </p:sp>
      <p:sp>
        <p:nvSpPr>
          <p:cNvPr id="560" name="Google Shape;560;p12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التحقق من الإسناد مبعثر بين الكتب</a:t>
            </a:r>
            <a:endParaRPr/>
          </a:p>
        </p:txBody>
      </p:sp>
      <p:sp>
        <p:nvSpPr>
          <p:cNvPr id="561" name="Google Shape;561;p12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562" name="Google Shape;562;p12"/>
          <p:cNvSpPr txBox="1"/>
          <p:nvPr>
            <p:ph idx="2" type="body"/>
          </p:nvPr>
        </p:nvSpPr>
        <p:spPr>
          <a:xfrm>
            <a:off x="5886450" y="3604500"/>
            <a:ext cx="10953900" cy="22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25"/>
              <a:buNone/>
            </a:pPr>
            <a:r>
              <a:rPr lang="ar-SA" sz="3225">
                <a:solidFill>
                  <a:srgbClr val="F2F4FF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يحتاج المعرِّف بالإسلام والباحث أن يعرفا: هل الإسناد متصل؟ ومن رواته؟ وما قاله العلماء فيهم؟ هذه المعلومات موزعة بين دواوين الحديث وكتب التراجم والعلل، وتُقرأ نصاً دون رؤية شاملة للطرق.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63" name="Google Shape;563;p12"/>
          <p:cNvSpPr txBox="1"/>
          <p:nvPr>
            <p:ph idx="3" type="body"/>
          </p:nvPr>
        </p:nvSpPr>
        <p:spPr>
          <a:xfrm>
            <a:off x="5886450" y="7239000"/>
            <a:ext cx="10953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معيار النجاح</a:t>
            </a:r>
            <a:endParaRPr/>
          </a:p>
        </p:txBody>
      </p:sp>
      <p:sp>
        <p:nvSpPr>
          <p:cNvPr id="564" name="Google Shape;564;p12"/>
          <p:cNvSpPr txBox="1"/>
          <p:nvPr>
            <p:ph idx="4" type="body"/>
          </p:nvPr>
        </p:nvSpPr>
        <p:spPr>
          <a:xfrm>
            <a:off x="5886450" y="8001000"/>
            <a:ext cx="10953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تحقق أوضح وأسرع، ومصدر وحالة دليل ظاهران، وتمييز ما تؤيده المصادر مما يتطلب تحققاً أو إحالة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1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الحل</a:t>
            </a:r>
            <a:endParaRPr/>
          </a:p>
        </p:txBody>
      </p:sp>
      <p:sp>
        <p:nvSpPr>
          <p:cNvPr id="538" name="Google Shape;538;p11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إسناد يُرسم ويُفحص</a:t>
            </a:r>
            <a:endParaRPr/>
          </a:p>
        </p:txBody>
      </p:sp>
      <p:sp>
        <p:nvSpPr>
          <p:cNvPr id="539" name="Google Shape;539;p11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أربع إمكانات في مكان واحد</a:t>
            </a:r>
            <a:endParaRPr/>
          </a:p>
        </p:txBody>
      </p:sp>
      <p:sp>
        <p:nvSpPr>
          <p:cNvPr id="540" name="Google Shape;540;p11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541" name="Google Shape;541;p11"/>
          <p:cNvSpPr txBox="1"/>
          <p:nvPr>
            <p:ph idx="3" type="body"/>
          </p:nvPr>
        </p:nvSpPr>
        <p:spPr>
          <a:xfrm>
            <a:off x="9505950" y="3952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شجرة إسناد تفاعلية</a:t>
            </a:r>
            <a:endParaRPr/>
          </a:p>
        </p:txBody>
      </p:sp>
      <p:sp>
        <p:nvSpPr>
          <p:cNvPr id="542" name="Google Shape;542;p11"/>
          <p:cNvSpPr txBox="1"/>
          <p:nvPr>
            <p:ph idx="4" type="body"/>
          </p:nvPr>
        </p:nvSpPr>
        <p:spPr>
          <a:xfrm>
            <a:off x="9505950" y="4657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رسم من الصحابي إلى المصنِّف يُبرز المدار ومواضع الانتباه</a:t>
            </a:r>
            <a:endParaRPr/>
          </a:p>
        </p:txBody>
      </p:sp>
      <p:sp>
        <p:nvSpPr>
          <p:cNvPr id="543" name="Google Shape;543;p11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فحص العلل</a:t>
            </a:r>
            <a:endParaRPr/>
          </a:p>
        </p:txBody>
      </p:sp>
      <p:sp>
        <p:nvSpPr>
          <p:cNvPr id="544" name="Google Shape;544;p11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قواعد المحدثين في التدليس والاختلاط والانقطاع وغيرها، وهي تنبيهات لا أحكام</a:t>
            </a:r>
            <a:endParaRPr/>
          </a:p>
        </p:txBody>
      </p:sp>
      <p:sp>
        <p:nvSpPr>
          <p:cNvPr id="545" name="Google Shape;545;p11"/>
          <p:cNvSpPr txBox="1"/>
          <p:nvPr>
            <p:ph idx="7" type="body"/>
          </p:nvPr>
        </p:nvSpPr>
        <p:spPr>
          <a:xfrm>
            <a:off x="9505950" y="6619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أقوال الجرح والتعديل</a:t>
            </a:r>
            <a:endParaRPr/>
          </a:p>
        </p:txBody>
      </p:sp>
      <p:sp>
        <p:nvSpPr>
          <p:cNvPr id="546" name="Google Shape;546;p11"/>
          <p:cNvSpPr txBox="1"/>
          <p:nvPr>
            <p:ph idx="8" type="body"/>
          </p:nvPr>
        </p:nvSpPr>
        <p:spPr>
          <a:xfrm>
            <a:off x="9505950" y="7324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منسوبة لأصحابها، ويُعرض الخلاف بين العلماء حين يوجد</a:t>
            </a:r>
            <a:endParaRPr/>
          </a:p>
        </p:txBody>
      </p:sp>
      <p:sp>
        <p:nvSpPr>
          <p:cNvPr id="547" name="Google Shape;547;p11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التخريج المقارن</a:t>
            </a:r>
            <a:endParaRPr/>
          </a:p>
        </p:txBody>
      </p:sp>
      <p:sp>
        <p:nvSpPr>
          <p:cNvPr id="548" name="Google Shape;548;p11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روايات الحديث من عدة دواوين في شجرة واحدة</a:t>
            </a:r>
            <a:endParaRPr/>
          </a:p>
        </p:txBody>
      </p:sp>
      <p:sp>
        <p:nvSpPr>
          <p:cNvPr id="549" name="Google Shape;549;p11"/>
          <p:cNvSpPr/>
          <p:nvPr/>
        </p:nvSpPr>
        <p:spPr>
          <a:xfrm>
            <a:off x="76962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550" name="Google Shape;55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24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24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آلية العمل</a:t>
            </a:r>
            <a:endParaRPr/>
          </a:p>
        </p:txBody>
      </p:sp>
      <p:sp>
        <p:nvSpPr>
          <p:cNvPr id="819" name="Google Shape;819;p24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من الطلب إلى حالة الدليل</a:t>
            </a:r>
            <a:endParaRPr/>
          </a:p>
        </p:txBody>
      </p:sp>
      <p:sp>
        <p:nvSpPr>
          <p:cNvPr id="820" name="Google Shape;820;p24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أربع خطوات</a:t>
            </a:r>
            <a:endParaRPr/>
          </a:p>
        </p:txBody>
      </p:sp>
      <p:sp>
        <p:nvSpPr>
          <p:cNvPr id="821" name="Google Shape;821;p24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822" name="Google Shape;822;p24"/>
          <p:cNvSpPr/>
          <p:nvPr/>
        </p:nvSpPr>
        <p:spPr>
          <a:xfrm>
            <a:off x="137160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3867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المدخلات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طرف الحديث أو ألفاظه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بحث نصي في الدواوين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1"/>
          </a:p>
        </p:txBody>
      </p:sp>
      <p:sp>
        <p:nvSpPr>
          <p:cNvPr id="823" name="Google Shape;823;p24"/>
          <p:cNvSpPr/>
          <p:nvPr/>
        </p:nvSpPr>
        <p:spPr>
          <a:xfrm>
            <a:off x="97155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23307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02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المعالجة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بناء شجرة الإسناد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وفحص العلل آلياً</a:t>
            </a:r>
            <a:endParaRPr b="1" sz="36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sp>
        <p:nvSpPr>
          <p:cNvPr id="824" name="Google Shape;824;p24"/>
          <p:cNvSpPr/>
          <p:nvPr/>
        </p:nvSpPr>
        <p:spPr>
          <a:xfrm>
            <a:off x="57150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38125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المخرجات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رسم السند والأقوال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مع حالة الدليل</a:t>
            </a:r>
            <a:endParaRPr b="1" sz="36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sp>
        <p:nvSpPr>
          <p:cNvPr id="825" name="Google Shape;825;p24"/>
          <p:cNvSpPr/>
          <p:nvPr/>
        </p:nvSpPr>
        <p:spPr>
          <a:xfrm>
            <a:off x="1714500" y="4333800"/>
            <a:ext cx="3429000" cy="3714900"/>
          </a:xfrm>
          <a:prstGeom prst="roundRect">
            <a:avLst>
              <a:gd fmla="val 8059" name="adj"/>
            </a:avLst>
          </a:prstGeom>
          <a:solidFill>
            <a:srgbClr val="FFFFFF">
              <a:alpha val="3920"/>
            </a:srgbClr>
          </a:solidFill>
          <a:ln cap="flat" cmpd="sng" w="8175">
            <a:solidFill>
              <a:srgbClr val="2EF2C2">
                <a:alpha val="121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400" lIns="78400" spcFirstLastPara="1" rIns="78400" wrap="square" tIns="78400">
            <a:noAutofit/>
          </a:bodyPr>
          <a:lstStyle/>
          <a:p>
            <a:pPr indent="0" lvl="0" marL="0" marR="223307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6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300"/>
              </a:spcBef>
              <a:spcAft>
                <a:spcPts val="0"/>
              </a:spcAft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الأثر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تحقق أوضح</a:t>
            </a:r>
            <a:endParaRPr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269999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نقيسه مع مستخدمين</a:t>
            </a:r>
            <a:endParaRPr b="1" sz="36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pic>
        <p:nvPicPr>
          <p:cNvPr id="826" name="Google Shape;82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p27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27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ما يميّز الأداة</a:t>
            </a:r>
            <a:endParaRPr/>
          </a:p>
        </p:txBody>
      </p:sp>
      <p:sp>
        <p:nvSpPr>
          <p:cNvPr id="861" name="Google Shape;861;p27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عناصر الحل</a:t>
            </a:r>
            <a:endParaRPr/>
          </a:p>
        </p:txBody>
      </p:sp>
      <p:sp>
        <p:nvSpPr>
          <p:cNvPr id="862" name="Google Shape;862;p27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ما الذي يجعلها موثوقة</a:t>
            </a:r>
            <a:endParaRPr/>
          </a:p>
        </p:txBody>
      </p:sp>
      <p:sp>
        <p:nvSpPr>
          <p:cNvPr id="863" name="Google Shape;863;p2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pic>
        <p:nvPicPr>
          <p:cNvPr id="864" name="Google Shape;86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589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27"/>
          <p:cNvSpPr txBox="1"/>
          <p:nvPr>
            <p:ph idx="3" type="body"/>
          </p:nvPr>
        </p:nvSpPr>
        <p:spPr>
          <a:xfrm>
            <a:off x="134112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ذكاء اصطناعي منضبط</a:t>
            </a:r>
            <a:endParaRPr/>
          </a:p>
        </p:txBody>
      </p:sp>
      <p:sp>
        <p:nvSpPr>
          <p:cNvPr id="866" name="Google Shape;866;p27"/>
          <p:cNvSpPr txBox="1"/>
          <p:nvPr>
            <p:ph idx="4" type="body"/>
          </p:nvPr>
        </p:nvSpPr>
        <p:spPr>
          <a:xfrm>
            <a:off x="134112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اقتباس حرفي يُتحقق منه،</a:t>
            </a:r>
            <a:endParaRPr/>
          </a:p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ويمتنع عند غياب المرجع</a:t>
            </a:r>
            <a:endParaRPr/>
          </a:p>
        </p:txBody>
      </p:sp>
      <p:pic>
        <p:nvPicPr>
          <p:cNvPr id="867" name="Google Shape;86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584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27"/>
          <p:cNvSpPr txBox="1"/>
          <p:nvPr>
            <p:ph idx="5" type="body"/>
          </p:nvPr>
        </p:nvSpPr>
        <p:spPr>
          <a:xfrm>
            <a:off x="94107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قاموس المصطلحات</a:t>
            </a:r>
            <a:endParaRPr/>
          </a:p>
        </p:txBody>
      </p:sp>
      <p:sp>
        <p:nvSpPr>
          <p:cNvPr id="869" name="Google Shape;869;p27"/>
          <p:cNvSpPr txBox="1"/>
          <p:nvPr>
            <p:ph idx="6" type="body"/>
          </p:nvPr>
        </p:nvSpPr>
        <p:spPr>
          <a:xfrm>
            <a:off x="94107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تعريفات مبسطة بمقابل</a:t>
            </a:r>
            <a:endParaRPr/>
          </a:p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إنجليزي داخل الواجهة</a:t>
            </a:r>
            <a:endParaRPr/>
          </a:p>
        </p:txBody>
      </p:sp>
      <p:pic>
        <p:nvPicPr>
          <p:cNvPr id="870" name="Google Shape;870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579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27"/>
          <p:cNvSpPr txBox="1"/>
          <p:nvPr>
            <p:ph idx="7" type="body"/>
          </p:nvPr>
        </p:nvSpPr>
        <p:spPr>
          <a:xfrm>
            <a:off x="54102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أقوال منسوبة وخلاف</a:t>
            </a:r>
            <a:endParaRPr/>
          </a:p>
        </p:txBody>
      </p:sp>
      <p:sp>
        <p:nvSpPr>
          <p:cNvPr id="872" name="Google Shape;872;p27"/>
          <p:cNvSpPr txBox="1"/>
          <p:nvPr>
            <p:ph idx="8" type="body"/>
          </p:nvPr>
        </p:nvSpPr>
        <p:spPr>
          <a:xfrm>
            <a:off x="54102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تُعرض الأقوال بأسمائها</a:t>
            </a:r>
            <a:endParaRPr/>
          </a:p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ويظهر الخلاف بين العلماء</a:t>
            </a:r>
            <a:endParaRPr/>
          </a:p>
        </p:txBody>
      </p:sp>
      <p:pic>
        <p:nvPicPr>
          <p:cNvPr id="873" name="Google Shape;873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57450" y="40005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27"/>
          <p:cNvSpPr txBox="1"/>
          <p:nvPr>
            <p:ph idx="9" type="body"/>
          </p:nvPr>
        </p:nvSpPr>
        <p:spPr>
          <a:xfrm>
            <a:off x="1409700" y="6048375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حالة الدليل</a:t>
            </a:r>
            <a:endParaRPr/>
          </a:p>
        </p:txBody>
      </p:sp>
      <p:sp>
        <p:nvSpPr>
          <p:cNvPr id="875" name="Google Shape;875;p27"/>
          <p:cNvSpPr txBox="1"/>
          <p:nvPr>
            <p:ph idx="13" type="body"/>
          </p:nvPr>
        </p:nvSpPr>
        <p:spPr>
          <a:xfrm>
            <a:off x="1409700" y="7162800"/>
            <a:ext cx="35244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مؤيَّد بنص مصدر، أو</a:t>
            </a:r>
            <a:endParaRPr/>
          </a:p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يتطلب تحققاً، أو لا مرجع كافٍ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20" title="خلفية هكثون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20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6150EA"/>
                </a:solidFill>
                <a:latin typeface="Readex Pro"/>
                <a:ea typeface="Readex Pro"/>
                <a:cs typeface="Readex Pro"/>
                <a:sym typeface="Readex Pro"/>
              </a:rPr>
              <a:t>السلامة العلمية</a:t>
            </a:r>
            <a:endParaRPr/>
          </a:p>
        </p:txBody>
      </p:sp>
      <p:sp>
        <p:nvSpPr>
          <p:cNvPr id="711" name="Google Shape;711;p20"/>
          <p:cNvSpPr txBox="1"/>
          <p:nvPr>
            <p:ph type="title"/>
          </p:nvPr>
        </p:nvSpPr>
        <p:spPr>
          <a:xfrm>
            <a:off x="6637950" y="1809750"/>
            <a:ext cx="10202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حدود واضحة لا تتجاوزها الأداة</a:t>
            </a:r>
            <a:endParaRPr/>
          </a:p>
        </p:txBody>
      </p:sp>
      <p:sp>
        <p:nvSpPr>
          <p:cNvPr id="712" name="Google Shape;712;p20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منسجمة مع ضوابط المرجعية العلمية للتحدي</a:t>
            </a:r>
            <a:endParaRPr/>
          </a:p>
        </p:txBody>
      </p:sp>
      <p:sp>
        <p:nvSpPr>
          <p:cNvPr id="713" name="Google Shape;713;p20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714" name="Google Shape;714;p20"/>
          <p:cNvSpPr txBox="1"/>
          <p:nvPr>
            <p:ph idx="3" type="body"/>
          </p:nvPr>
        </p:nvSpPr>
        <p:spPr>
          <a:xfrm>
            <a:off x="9505950" y="3952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لا فتوى ولا حكم نهائي</a:t>
            </a:r>
            <a:endParaRPr/>
          </a:p>
        </p:txBody>
      </p:sp>
      <p:sp>
        <p:nvSpPr>
          <p:cNvPr id="715" name="Google Shape;715;p20"/>
          <p:cNvSpPr txBox="1"/>
          <p:nvPr>
            <p:ph idx="4" type="body"/>
          </p:nvPr>
        </p:nvSpPr>
        <p:spPr>
          <a:xfrm>
            <a:off x="9505950" y="4657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تُعرض الأقوال والمؤشرات، ويُحال إلى الدرر السنية وأهل الاختصاص</a:t>
            </a:r>
            <a:endParaRPr/>
          </a:p>
        </p:txBody>
      </p:sp>
      <p:sp>
        <p:nvSpPr>
          <p:cNvPr id="716" name="Google Shape;716;p20"/>
          <p:cNvSpPr txBox="1"/>
          <p:nvPr>
            <p:ph idx="5" type="body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امتناع عند غياب المرجع</a:t>
            </a:r>
            <a:endParaRPr/>
          </a:p>
        </p:txBody>
      </p:sp>
      <p:sp>
        <p:nvSpPr>
          <p:cNvPr id="717" name="Google Shape;717;p20"/>
          <p:cNvSpPr txBox="1"/>
          <p:nvPr>
            <p:ph idx="6" type="body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راوٍ بلا أقوال مسجلة: لا تصنيف ولا تخمين، وتظهر عبارة «لا يوجد مرجع كافٍ»</a:t>
            </a:r>
            <a:endParaRPr/>
          </a:p>
        </p:txBody>
      </p:sp>
      <p:sp>
        <p:nvSpPr>
          <p:cNvPr id="718" name="Google Shape;718;p20"/>
          <p:cNvSpPr txBox="1"/>
          <p:nvPr>
            <p:ph idx="7" type="body"/>
          </p:nvPr>
        </p:nvSpPr>
        <p:spPr>
          <a:xfrm>
            <a:off x="9505950" y="6619875"/>
            <a:ext cx="7334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اقتباس حرفي يُتحقق منه</a:t>
            </a:r>
            <a:endParaRPr/>
          </a:p>
        </p:txBody>
      </p:sp>
      <p:sp>
        <p:nvSpPr>
          <p:cNvPr id="719" name="Google Shape;719;p20"/>
          <p:cNvSpPr txBox="1"/>
          <p:nvPr>
            <p:ph idx="8" type="body"/>
          </p:nvPr>
        </p:nvSpPr>
        <p:spPr>
          <a:xfrm>
            <a:off x="9505950" y="7324725"/>
            <a:ext cx="7334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يُرفض أي اقتباس لا يطابق الأقوال المسجلة، وأي درجة خارج المقياس المعروف</a:t>
            </a:r>
            <a:endParaRPr/>
          </a:p>
        </p:txBody>
      </p:sp>
      <p:sp>
        <p:nvSpPr>
          <p:cNvPr id="720" name="Google Shape;720;p20"/>
          <p:cNvSpPr txBox="1"/>
          <p:nvPr>
            <p:ph idx="9" type="body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12183F"/>
                </a:solidFill>
                <a:latin typeface="Readex Pro"/>
                <a:ea typeface="Readex Pro"/>
                <a:cs typeface="Readex Pro"/>
                <a:sym typeface="Readex Pro"/>
              </a:rPr>
              <a:t>شفافية دائمة</a:t>
            </a:r>
            <a:endParaRPr/>
          </a:p>
        </p:txBody>
      </p:sp>
      <p:sp>
        <p:nvSpPr>
          <p:cNvPr id="721" name="Google Shape;721;p20"/>
          <p:cNvSpPr txBox="1"/>
          <p:nvPr>
            <p:ph idx="13" type="body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تنبيه ظاهر بأن الملخص مولَّد بمساعدة الذكاء الاصطناعي، مع الأقوال الأصلية</a:t>
            </a:r>
            <a:endParaRPr/>
          </a:p>
        </p:txBody>
      </p:sp>
      <p:pic>
        <p:nvPicPr>
          <p:cNvPr id="722" name="Google Shape;722;p20" title="شعار تحدي الذكاء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5225" y="572270"/>
            <a:ext cx="3490299" cy="110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Google Shape;6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15"/>
          <p:cNvSpPr/>
          <p:nvPr/>
        </p:nvSpPr>
        <p:spPr>
          <a:xfrm>
            <a:off x="73914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ar-SA" sz="135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603" name="Google Shape;6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15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البيانات</a:t>
            </a:r>
            <a:endParaRPr/>
          </a:p>
        </p:txBody>
      </p:sp>
      <p:sp>
        <p:nvSpPr>
          <p:cNvPr id="605" name="Google Shape;605;p15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قاعدة بيانات المشروع</a:t>
            </a:r>
            <a:endParaRPr/>
          </a:p>
        </p:txBody>
      </p:sp>
      <p:sp>
        <p:nvSpPr>
          <p:cNvPr id="606" name="Google Shape;606;p15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الحالة الراهنة</a:t>
            </a:r>
            <a:endParaRPr/>
          </a:p>
        </p:txBody>
      </p:sp>
      <p:sp>
        <p:nvSpPr>
          <p:cNvPr id="607" name="Google Shape;607;p15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608" name="Google Shape;608;p15"/>
          <p:cNvSpPr txBox="1"/>
          <p:nvPr>
            <p:ph idx="3" type="body"/>
          </p:nvPr>
        </p:nvSpPr>
        <p:spPr>
          <a:xfrm>
            <a:off x="13716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44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31</a:t>
            </a:r>
            <a:endParaRPr/>
          </a:p>
        </p:txBody>
      </p:sp>
      <p:sp>
        <p:nvSpPr>
          <p:cNvPr id="609" name="Google Shape;609;p15"/>
          <p:cNvSpPr txBox="1"/>
          <p:nvPr>
            <p:ph idx="4" type="body"/>
          </p:nvPr>
        </p:nvSpPr>
        <p:spPr>
          <a:xfrm>
            <a:off x="13716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ديوان</a:t>
            </a:r>
            <a:endParaRPr/>
          </a:p>
        </p:txBody>
      </p:sp>
      <p:sp>
        <p:nvSpPr>
          <p:cNvPr id="610" name="Google Shape;610;p15"/>
          <p:cNvSpPr txBox="1"/>
          <p:nvPr>
            <p:ph idx="5" type="body"/>
          </p:nvPr>
        </p:nvSpPr>
        <p:spPr>
          <a:xfrm>
            <a:off x="13716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202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مجموعة سنية مسندة</a:t>
            </a:r>
            <a:endParaRPr/>
          </a:p>
        </p:txBody>
      </p:sp>
      <p:sp>
        <p:nvSpPr>
          <p:cNvPr id="611" name="Google Shape;611;p15"/>
          <p:cNvSpPr txBox="1"/>
          <p:nvPr>
            <p:ph idx="6" type="body"/>
          </p:nvPr>
        </p:nvSpPr>
        <p:spPr>
          <a:xfrm>
            <a:off x="9715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44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274,597</a:t>
            </a:r>
            <a:endParaRPr/>
          </a:p>
        </p:txBody>
      </p:sp>
      <p:sp>
        <p:nvSpPr>
          <p:cNvPr id="612" name="Google Shape;612;p15"/>
          <p:cNvSpPr txBox="1"/>
          <p:nvPr>
            <p:ph idx="7" type="body"/>
          </p:nvPr>
        </p:nvSpPr>
        <p:spPr>
          <a:xfrm>
            <a:off x="9715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حديث وأثر</a:t>
            </a:r>
            <a:endParaRPr/>
          </a:p>
        </p:txBody>
      </p:sp>
      <p:sp>
        <p:nvSpPr>
          <p:cNvPr id="613" name="Google Shape;613;p15"/>
          <p:cNvSpPr txBox="1"/>
          <p:nvPr>
            <p:ph idx="8" type="body"/>
          </p:nvPr>
        </p:nvSpPr>
        <p:spPr>
          <a:xfrm>
            <a:off x="9715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202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مفهرس للبحث</a:t>
            </a:r>
            <a:endParaRPr/>
          </a:p>
        </p:txBody>
      </p:sp>
      <p:sp>
        <p:nvSpPr>
          <p:cNvPr id="614" name="Google Shape;614;p15"/>
          <p:cNvSpPr txBox="1"/>
          <p:nvPr>
            <p:ph idx="9" type="body"/>
          </p:nvPr>
        </p:nvSpPr>
        <p:spPr>
          <a:xfrm>
            <a:off x="5715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44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1,217,978</a:t>
            </a:r>
            <a:endParaRPr/>
          </a:p>
        </p:txBody>
      </p:sp>
      <p:sp>
        <p:nvSpPr>
          <p:cNvPr id="615" name="Google Shape;615;p15"/>
          <p:cNvSpPr txBox="1"/>
          <p:nvPr>
            <p:ph idx="13" type="body"/>
          </p:nvPr>
        </p:nvSpPr>
        <p:spPr>
          <a:xfrm>
            <a:off x="5715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رابط إسناد</a:t>
            </a:r>
            <a:endParaRPr/>
          </a:p>
        </p:txBody>
      </p:sp>
      <p:sp>
        <p:nvSpPr>
          <p:cNvPr id="616" name="Google Shape;616;p15"/>
          <p:cNvSpPr txBox="1"/>
          <p:nvPr>
            <p:ph idx="14" type="body"/>
          </p:nvPr>
        </p:nvSpPr>
        <p:spPr>
          <a:xfrm>
            <a:off x="5715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202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شيخ ← تلميذ</a:t>
            </a:r>
            <a:endParaRPr/>
          </a:p>
        </p:txBody>
      </p:sp>
      <p:sp>
        <p:nvSpPr>
          <p:cNvPr id="617" name="Google Shape;617;p15"/>
          <p:cNvSpPr txBox="1"/>
          <p:nvPr>
            <p:ph idx="15" type="body"/>
          </p:nvPr>
        </p:nvSpPr>
        <p:spPr>
          <a:xfrm>
            <a:off x="1714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b="1" lang="ar-SA" sz="44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23,502</a:t>
            </a:r>
            <a:endParaRPr/>
          </a:p>
        </p:txBody>
      </p:sp>
      <p:sp>
        <p:nvSpPr>
          <p:cNvPr id="618" name="Google Shape;618;p15"/>
          <p:cNvSpPr txBox="1"/>
          <p:nvPr>
            <p:ph idx="16" type="body"/>
          </p:nvPr>
        </p:nvSpPr>
        <p:spPr>
          <a:xfrm>
            <a:off x="1714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1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راوٍ</a:t>
            </a:r>
            <a:endParaRPr/>
          </a:p>
        </p:txBody>
      </p:sp>
      <p:sp>
        <p:nvSpPr>
          <p:cNvPr id="619" name="Google Shape;619;p15"/>
          <p:cNvSpPr txBox="1"/>
          <p:nvPr>
            <p:ph idx="17" type="body"/>
          </p:nvPr>
        </p:nvSpPr>
        <p:spPr>
          <a:xfrm>
            <a:off x="1714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b="0" lang="ar-SA" sz="2025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مرتبط بأقوال العلماء حيث تتوفر</a:t>
            </a:r>
            <a:endParaRPr/>
          </a:p>
        </p:txBody>
      </p:sp>
      <p:sp>
        <p:nvSpPr>
          <p:cNvPr id="620" name="Google Shape;620;p15"/>
          <p:cNvSpPr txBox="1"/>
          <p:nvPr>
            <p:ph idx="18" type="body"/>
          </p:nvPr>
        </p:nvSpPr>
        <p:spPr>
          <a:xfrm>
            <a:off x="8381075" y="8763000"/>
            <a:ext cx="84591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المصدر: قاعدة بيانات المشروع، مبنية من المكتبة الشاملة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9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التقنيات</a:t>
            </a:r>
            <a:endParaRPr/>
          </a:p>
        </p:txBody>
      </p:sp>
      <p:sp>
        <p:nvSpPr>
          <p:cNvPr id="501" name="Google Shape;501;p9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التقنيات المستخدمة</a:t>
            </a:r>
            <a:endParaRPr/>
          </a:p>
        </p:txBody>
      </p:sp>
      <p:sp>
        <p:nvSpPr>
          <p:cNvPr id="502" name="Google Shape;502;p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503" name="Google Shape;503;p9"/>
          <p:cNvSpPr txBox="1"/>
          <p:nvPr>
            <p:ph idx="2" type="body"/>
          </p:nvPr>
        </p:nvSpPr>
        <p:spPr>
          <a:xfrm>
            <a:off x="12077700" y="3857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</a:t>
            </a:r>
            <a:endParaRPr/>
          </a:p>
        </p:txBody>
      </p:sp>
      <p:sp>
        <p:nvSpPr>
          <p:cNvPr id="504" name="Google Shape;504;p9"/>
          <p:cNvSpPr txBox="1"/>
          <p:nvPr>
            <p:ph idx="3" type="body"/>
          </p:nvPr>
        </p:nvSpPr>
        <p:spPr>
          <a:xfrm>
            <a:off x="12077700" y="4724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واجهة المستخدم</a:t>
            </a:r>
            <a:endParaRPr/>
          </a:p>
        </p:txBody>
      </p:sp>
      <p:sp>
        <p:nvSpPr>
          <p:cNvPr id="505" name="Google Shape;505;p9"/>
          <p:cNvSpPr txBox="1"/>
          <p:nvPr>
            <p:ph idx="4" type="body"/>
          </p:nvPr>
        </p:nvSpPr>
        <p:spPr>
          <a:xfrm>
            <a:off x="12077700" y="5419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Next.js وReact وTypeScript</a:t>
            </a:r>
            <a:endParaRPr/>
          </a:p>
        </p:txBody>
      </p:sp>
      <p:sp>
        <p:nvSpPr>
          <p:cNvPr id="506" name="Google Shape;506;p9"/>
          <p:cNvSpPr txBox="1"/>
          <p:nvPr>
            <p:ph idx="5" type="body"/>
          </p:nvPr>
        </p:nvSpPr>
        <p:spPr>
          <a:xfrm>
            <a:off x="6743700" y="3857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02</a:t>
            </a:r>
            <a:endParaRPr/>
          </a:p>
        </p:txBody>
      </p:sp>
      <p:sp>
        <p:nvSpPr>
          <p:cNvPr id="507" name="Google Shape;507;p9"/>
          <p:cNvSpPr txBox="1"/>
          <p:nvPr>
            <p:ph idx="6" type="body"/>
          </p:nvPr>
        </p:nvSpPr>
        <p:spPr>
          <a:xfrm>
            <a:off x="6743700" y="4724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رسم الأسانيد</a:t>
            </a:r>
            <a:endParaRPr/>
          </a:p>
        </p:txBody>
      </p:sp>
      <p:sp>
        <p:nvSpPr>
          <p:cNvPr id="508" name="Google Shape;508;p9"/>
          <p:cNvSpPr txBox="1"/>
          <p:nvPr>
            <p:ph idx="7" type="body"/>
          </p:nvPr>
        </p:nvSpPr>
        <p:spPr>
          <a:xfrm>
            <a:off x="6743700" y="5419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React Flow مع ELK للتخطيط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09" name="Google Shape;509;p9"/>
          <p:cNvSpPr txBox="1"/>
          <p:nvPr>
            <p:ph idx="8" type="body"/>
          </p:nvPr>
        </p:nvSpPr>
        <p:spPr>
          <a:xfrm>
            <a:off x="1409700" y="3857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endParaRPr/>
          </a:p>
        </p:txBody>
      </p:sp>
      <p:sp>
        <p:nvSpPr>
          <p:cNvPr id="510" name="Google Shape;510;p9"/>
          <p:cNvSpPr txBox="1"/>
          <p:nvPr>
            <p:ph idx="9" type="body"/>
          </p:nvPr>
        </p:nvSpPr>
        <p:spPr>
          <a:xfrm>
            <a:off x="1409700" y="4724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الخادم</a:t>
            </a:r>
            <a:endParaRPr/>
          </a:p>
        </p:txBody>
      </p:sp>
      <p:sp>
        <p:nvSpPr>
          <p:cNvPr id="511" name="Google Shape;511;p9"/>
          <p:cNvSpPr txBox="1"/>
          <p:nvPr>
            <p:ph idx="13" type="body"/>
          </p:nvPr>
        </p:nvSpPr>
        <p:spPr>
          <a:xfrm>
            <a:off x="1409700" y="5419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‎.NET 9 بمعمارية نظيفة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12" name="Google Shape;512;p9"/>
          <p:cNvSpPr txBox="1"/>
          <p:nvPr>
            <p:ph idx="14" type="body"/>
          </p:nvPr>
        </p:nvSpPr>
        <p:spPr>
          <a:xfrm>
            <a:off x="12077700" y="6524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endParaRPr/>
          </a:p>
        </p:txBody>
      </p:sp>
      <p:sp>
        <p:nvSpPr>
          <p:cNvPr id="513" name="Google Shape;513;p9"/>
          <p:cNvSpPr txBox="1"/>
          <p:nvPr>
            <p:ph idx="15" type="body"/>
          </p:nvPr>
        </p:nvSpPr>
        <p:spPr>
          <a:xfrm>
            <a:off x="12077700" y="7391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قاعدة البيانات</a:t>
            </a:r>
            <a:endParaRPr/>
          </a:p>
        </p:txBody>
      </p:sp>
      <p:sp>
        <p:nvSpPr>
          <p:cNvPr id="514" name="Google Shape;514;p9"/>
          <p:cNvSpPr txBox="1"/>
          <p:nvPr>
            <p:ph idx="16" type="body"/>
          </p:nvPr>
        </p:nvSpPr>
        <p:spPr>
          <a:xfrm>
            <a:off x="12077700" y="8086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SQL Server وEF Core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15" name="Google Shape;515;p9"/>
          <p:cNvSpPr txBox="1"/>
          <p:nvPr>
            <p:ph idx="17" type="body"/>
          </p:nvPr>
        </p:nvSpPr>
        <p:spPr>
          <a:xfrm>
            <a:off x="6743700" y="6524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05</a:t>
            </a:r>
            <a:endParaRPr/>
          </a:p>
        </p:txBody>
      </p:sp>
      <p:sp>
        <p:nvSpPr>
          <p:cNvPr id="516" name="Google Shape;516;p9"/>
          <p:cNvSpPr txBox="1"/>
          <p:nvPr>
            <p:ph idx="18" type="body"/>
          </p:nvPr>
        </p:nvSpPr>
        <p:spPr>
          <a:xfrm>
            <a:off x="6743700" y="7391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الذكاء الاصطناعي</a:t>
            </a:r>
            <a:endParaRPr/>
          </a:p>
        </p:txBody>
      </p:sp>
      <p:sp>
        <p:nvSpPr>
          <p:cNvPr id="517" name="Google Shape;517;p9"/>
          <p:cNvSpPr txBox="1"/>
          <p:nvPr>
            <p:ph idx="19" type="body"/>
          </p:nvPr>
        </p:nvSpPr>
        <p:spPr>
          <a:xfrm>
            <a:off x="6743700" y="8086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Semantic Kernel مع Gemini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18" name="Google Shape;518;p9"/>
          <p:cNvSpPr txBox="1"/>
          <p:nvPr>
            <p:ph idx="20" type="body"/>
          </p:nvPr>
        </p:nvSpPr>
        <p:spPr>
          <a:xfrm>
            <a:off x="1409700" y="6524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06</a:t>
            </a:r>
            <a:endParaRPr/>
          </a:p>
        </p:txBody>
      </p:sp>
      <p:sp>
        <p:nvSpPr>
          <p:cNvPr id="519" name="Google Shape;519;p9"/>
          <p:cNvSpPr txBox="1"/>
          <p:nvPr>
            <p:ph idx="21" type="body"/>
          </p:nvPr>
        </p:nvSpPr>
        <p:spPr>
          <a:xfrm>
            <a:off x="1409700" y="7391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الجودة</a:t>
            </a:r>
            <a:endParaRPr/>
          </a:p>
        </p:txBody>
      </p:sp>
      <p:sp>
        <p:nvSpPr>
          <p:cNvPr id="520" name="Google Shape;520;p9"/>
          <p:cNvSpPr txBox="1"/>
          <p:nvPr>
            <p:ph idx="22" type="body"/>
          </p:nvPr>
        </p:nvSpPr>
        <p:spPr>
          <a:xfrm>
            <a:off x="1409700" y="8086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xUnit وPlaywright وفحص إتاحة</a:t>
            </a:r>
            <a:endParaRPr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6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17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القياس</a:t>
            </a:r>
            <a:endParaRPr/>
          </a:p>
        </p:txBody>
      </p:sp>
      <p:sp>
        <p:nvSpPr>
          <p:cNvPr id="640" name="Google Shape;640;p17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كيف نقيس النجاح</a:t>
            </a:r>
            <a:endParaRPr/>
          </a:p>
        </p:txBody>
      </p:sp>
      <p:sp>
        <p:nvSpPr>
          <p:cNvPr id="641" name="Google Shape;641;p17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ما نُفِّذ وما هو مخطَّط، بوضوح</a:t>
            </a:r>
            <a:endParaRPr/>
          </a:p>
        </p:txBody>
      </p:sp>
      <p:sp>
        <p:nvSpPr>
          <p:cNvPr id="642" name="Google Shape;642;p17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graphicFrame>
        <p:nvGraphicFramePr>
          <p:cNvPr id="643" name="Google Shape;643;p17"/>
          <p:cNvGraphicFramePr/>
          <p:nvPr/>
        </p:nvGraphicFramePr>
        <p:xfrm>
          <a:off x="1314450" y="39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{B8ED9858-D163-4338-9E88-1F424354888F}</a:tableStyleId>
              </a:tblPr>
              <a:tblGrid>
                <a:gridCol w="2286000"/>
                <a:gridCol w="3238500"/>
                <a:gridCol w="6191250"/>
                <a:gridCol w="3714750"/>
              </a:tblGrid>
              <a:tr h="7810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50" u="none" cap="none" strike="noStrike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النتيجة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27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50" u="none" cap="none" strike="noStrike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الحالة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27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50" u="none" cap="none" strike="noStrike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طريقة القياس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27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1" lang="ar-SA" sz="2250" u="none" cap="none" strike="noStrike">
                          <a:solidFill>
                            <a:srgbClr val="2EF2C2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المؤشر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2759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—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مخطَّط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مقارنة بمجموعة مرجعية من أحكام أئمة العلل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دقة قواعد فحص العلل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10 من 10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منفَّذ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اختبارات آلية على منطق الخلاف وحالة الدليل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عرض الخلاف وحالة الدليل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0 مخالفات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منفَّذ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فحص axe-core (WCAG 2.1 AA) لأربع صفحات رئيسية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الإتاحة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—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مخطَّط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اختبار مع 3 إلى 5 مستخدمين (SEQ وSUS)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50"/>
                        <a:buFont typeface="Arial"/>
                        <a:buNone/>
                      </a:pPr>
                      <a:r>
                        <a:rPr b="0" lang="ar-SA" sz="2250" u="none" cap="none" strike="noStrike">
                          <a:solidFill>
                            <a:srgbClr val="F2F4FF"/>
                          </a:solidFill>
                          <a:latin typeface="Readex Pro"/>
                          <a:ea typeface="Readex Pro"/>
                          <a:cs typeface="Readex Pro"/>
                          <a:sym typeface="Readex Pro"/>
                        </a:rPr>
                        <a:t>سهولة الاستخدام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23D6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D48"/>
                    </a:solidFill>
                  </a:tcPr>
                </a:tc>
              </a:tr>
            </a:tbl>
          </a:graphicData>
        </a:graphic>
      </p:graphicFrame>
      <p:sp>
        <p:nvSpPr>
          <p:cNvPr id="644" name="Google Shape;644;p17"/>
          <p:cNvSpPr txBox="1"/>
          <p:nvPr>
            <p:ph idx="3" type="body"/>
          </p:nvPr>
        </p:nvSpPr>
        <p:spPr>
          <a:xfrm>
            <a:off x="14097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الأرقام المعروضة نتائج فعلية، وكل بند «مخطَّط» لم يُنفَّذ بعد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3F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1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652" name="Google Shape;652;p18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الاستمرار</a:t>
            </a:r>
            <a:endParaRPr/>
          </a:p>
        </p:txBody>
      </p:sp>
      <p:sp>
        <p:nvSpPr>
          <p:cNvPr id="653" name="Google Shape;653;p18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خطة الاستمرار</a:t>
            </a:r>
            <a:endParaRPr/>
          </a:p>
        </p:txBody>
      </p:sp>
      <p:sp>
        <p:nvSpPr>
          <p:cNvPr id="654" name="Google Shape;654;p18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الأولويات بعد التسليم</a:t>
            </a:r>
            <a:endParaRPr/>
          </a:p>
        </p:txBody>
      </p:sp>
      <p:sp>
        <p:nvSpPr>
          <p:cNvPr id="655" name="Google Shape;655;p18"/>
          <p:cNvSpPr txBox="1"/>
          <p:nvPr>
            <p:ph idx="3" type="body"/>
          </p:nvPr>
        </p:nvSpPr>
        <p:spPr>
          <a:xfrm>
            <a:off x="139827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</a:t>
            </a:r>
            <a:endParaRPr/>
          </a:p>
        </p:txBody>
      </p:sp>
      <p:sp>
        <p:nvSpPr>
          <p:cNvPr id="656" name="Google Shape;656;p18"/>
          <p:cNvSpPr txBox="1"/>
          <p:nvPr>
            <p:ph idx="4" type="body"/>
          </p:nvPr>
        </p:nvSpPr>
        <p:spPr>
          <a:xfrm>
            <a:off x="1398270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التسليم</a:t>
            </a:r>
            <a:endParaRPr/>
          </a:p>
        </p:txBody>
      </p:sp>
      <p:sp>
        <p:nvSpPr>
          <p:cNvPr id="657" name="Google Shape;657;p18"/>
          <p:cNvSpPr txBox="1"/>
          <p:nvPr>
            <p:ph idx="5" type="body"/>
          </p:nvPr>
        </p:nvSpPr>
        <p:spPr>
          <a:xfrm>
            <a:off x="139827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6 أكتوبر 2026</a:t>
            </a:r>
            <a:endParaRPr/>
          </a:p>
        </p:txBody>
      </p:sp>
      <p:sp>
        <p:nvSpPr>
          <p:cNvPr id="658" name="Google Shape;658;p18"/>
          <p:cNvSpPr txBox="1"/>
          <p:nvPr>
            <p:ph idx="6" type="body"/>
          </p:nvPr>
        </p:nvSpPr>
        <p:spPr>
          <a:xfrm>
            <a:off x="1398270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حل يعمل ورابط حي ومستودع</a:t>
            </a:r>
            <a:endParaRPr/>
          </a:p>
        </p:txBody>
      </p:sp>
      <p:sp>
        <p:nvSpPr>
          <p:cNvPr id="659" name="Google Shape;659;p18"/>
          <p:cNvSpPr txBox="1"/>
          <p:nvPr>
            <p:ph idx="7" type="body"/>
          </p:nvPr>
        </p:nvSpPr>
        <p:spPr>
          <a:xfrm>
            <a:off x="108394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02</a:t>
            </a:r>
            <a:endParaRPr/>
          </a:p>
        </p:txBody>
      </p:sp>
      <p:sp>
        <p:nvSpPr>
          <p:cNvPr id="660" name="Google Shape;660;p18"/>
          <p:cNvSpPr txBox="1"/>
          <p:nvPr>
            <p:ph idx="8" type="body"/>
          </p:nvPr>
        </p:nvSpPr>
        <p:spPr>
          <a:xfrm>
            <a:off x="1083945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قياس الدقة</a:t>
            </a:r>
            <a:endParaRPr/>
          </a:p>
        </p:txBody>
      </p:sp>
      <p:sp>
        <p:nvSpPr>
          <p:cNvPr id="661" name="Google Shape;661;p18"/>
          <p:cNvSpPr txBox="1"/>
          <p:nvPr>
            <p:ph idx="9" type="body"/>
          </p:nvPr>
        </p:nvSpPr>
        <p:spPr>
          <a:xfrm>
            <a:off x="108394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بعد التسليم</a:t>
            </a:r>
            <a:endParaRPr/>
          </a:p>
        </p:txBody>
      </p:sp>
      <p:sp>
        <p:nvSpPr>
          <p:cNvPr id="662" name="Google Shape;662;p18"/>
          <p:cNvSpPr txBox="1"/>
          <p:nvPr>
            <p:ph idx="13" type="body"/>
          </p:nvPr>
        </p:nvSpPr>
        <p:spPr>
          <a:xfrm>
            <a:off x="1083945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مجموعة مرجعية لقواعد العلل</a:t>
            </a:r>
            <a:endParaRPr/>
          </a:p>
        </p:txBody>
      </p:sp>
      <p:sp>
        <p:nvSpPr>
          <p:cNvPr id="663" name="Google Shape;663;p18"/>
          <p:cNvSpPr txBox="1"/>
          <p:nvPr>
            <p:ph idx="14" type="body"/>
          </p:nvPr>
        </p:nvSpPr>
        <p:spPr>
          <a:xfrm>
            <a:off x="76962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endParaRPr/>
          </a:p>
        </p:txBody>
      </p:sp>
      <p:sp>
        <p:nvSpPr>
          <p:cNvPr id="664" name="Google Shape;664;p18"/>
          <p:cNvSpPr txBox="1"/>
          <p:nvPr>
            <p:ph idx="15" type="body"/>
          </p:nvPr>
        </p:nvSpPr>
        <p:spPr>
          <a:xfrm>
            <a:off x="769620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الاختبار</a:t>
            </a:r>
            <a:endParaRPr/>
          </a:p>
        </p:txBody>
      </p:sp>
      <p:sp>
        <p:nvSpPr>
          <p:cNvPr id="665" name="Google Shape;665;p18"/>
          <p:cNvSpPr txBox="1"/>
          <p:nvPr>
            <p:ph idx="16" type="body"/>
          </p:nvPr>
        </p:nvSpPr>
        <p:spPr>
          <a:xfrm>
            <a:off x="76962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بعد التسليم</a:t>
            </a:r>
            <a:endParaRPr/>
          </a:p>
        </p:txBody>
      </p:sp>
      <p:sp>
        <p:nvSpPr>
          <p:cNvPr id="666" name="Google Shape;666;p18"/>
          <p:cNvSpPr txBox="1"/>
          <p:nvPr>
            <p:ph idx="17" type="body"/>
          </p:nvPr>
        </p:nvSpPr>
        <p:spPr>
          <a:xfrm>
            <a:off x="769620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اختبار مستخدمين وتحسينات موثقة</a:t>
            </a:r>
            <a:endParaRPr/>
          </a:p>
        </p:txBody>
      </p:sp>
      <p:sp>
        <p:nvSpPr>
          <p:cNvPr id="667" name="Google Shape;667;p18"/>
          <p:cNvSpPr txBox="1"/>
          <p:nvPr>
            <p:ph idx="18" type="body"/>
          </p:nvPr>
        </p:nvSpPr>
        <p:spPr>
          <a:xfrm>
            <a:off x="45529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endParaRPr/>
          </a:p>
        </p:txBody>
      </p:sp>
      <p:sp>
        <p:nvSpPr>
          <p:cNvPr id="668" name="Google Shape;668;p18"/>
          <p:cNvSpPr txBox="1"/>
          <p:nvPr>
            <p:ph idx="19" type="body"/>
          </p:nvPr>
        </p:nvSpPr>
        <p:spPr>
          <a:xfrm>
            <a:off x="455295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الإتاحة</a:t>
            </a:r>
            <a:endParaRPr/>
          </a:p>
        </p:txBody>
      </p:sp>
      <p:sp>
        <p:nvSpPr>
          <p:cNvPr id="669" name="Google Shape;669;p18"/>
          <p:cNvSpPr txBox="1"/>
          <p:nvPr>
            <p:ph idx="20" type="body"/>
          </p:nvPr>
        </p:nvSpPr>
        <p:spPr>
          <a:xfrm>
            <a:off x="45529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بعد التسليم</a:t>
            </a:r>
            <a:endParaRPr/>
          </a:p>
        </p:txBody>
      </p:sp>
      <p:sp>
        <p:nvSpPr>
          <p:cNvPr id="670" name="Google Shape;670;p18"/>
          <p:cNvSpPr txBox="1"/>
          <p:nvPr>
            <p:ph idx="21" type="body"/>
          </p:nvPr>
        </p:nvSpPr>
        <p:spPr>
          <a:xfrm>
            <a:off x="455295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بديل نصي لرسم الشجرة</a:t>
            </a:r>
            <a:endParaRPr/>
          </a:p>
        </p:txBody>
      </p:sp>
      <p:sp>
        <p:nvSpPr>
          <p:cNvPr id="671" name="Google Shape;671;p18"/>
          <p:cNvSpPr txBox="1"/>
          <p:nvPr>
            <p:ph idx="22" type="body"/>
          </p:nvPr>
        </p:nvSpPr>
        <p:spPr>
          <a:xfrm>
            <a:off x="14097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b="1" lang="ar-SA" sz="39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05</a:t>
            </a:r>
            <a:endParaRPr/>
          </a:p>
        </p:txBody>
      </p:sp>
      <p:sp>
        <p:nvSpPr>
          <p:cNvPr id="672" name="Google Shape;672;p18"/>
          <p:cNvSpPr txBox="1"/>
          <p:nvPr>
            <p:ph idx="23" type="body"/>
          </p:nvPr>
        </p:nvSpPr>
        <p:spPr>
          <a:xfrm>
            <a:off x="1409700" y="523875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المراجعة</a:t>
            </a:r>
            <a:endParaRPr/>
          </a:p>
        </p:txBody>
      </p:sp>
      <p:sp>
        <p:nvSpPr>
          <p:cNvPr id="673" name="Google Shape;673;p18"/>
          <p:cNvSpPr txBox="1"/>
          <p:nvPr>
            <p:ph idx="24" type="body"/>
          </p:nvPr>
        </p:nvSpPr>
        <p:spPr>
          <a:xfrm>
            <a:off x="14097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بعد التسليم</a:t>
            </a:r>
            <a:endParaRPr/>
          </a:p>
        </p:txBody>
      </p:sp>
      <p:sp>
        <p:nvSpPr>
          <p:cNvPr id="674" name="Google Shape;674;p18"/>
          <p:cNvSpPr txBox="1"/>
          <p:nvPr>
            <p:ph idx="25" type="body"/>
          </p:nvPr>
        </p:nvSpPr>
        <p:spPr>
          <a:xfrm>
            <a:off x="140970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مراجعة شرعية للمصطلحات والحالات</a:t>
            </a:r>
            <a:endParaRPr/>
          </a:p>
        </p:txBody>
      </p:sp>
      <p:cxnSp>
        <p:nvCxnSpPr>
          <p:cNvPr id="675" name="Google Shape;675;p18"/>
          <p:cNvCxnSpPr/>
          <p:nvPr/>
        </p:nvCxnSpPr>
        <p:spPr>
          <a:xfrm rot="10800000">
            <a:off x="139923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76" name="Google Shape;6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7" name="Google Shape;677;p18"/>
          <p:cNvCxnSpPr/>
          <p:nvPr/>
        </p:nvCxnSpPr>
        <p:spPr>
          <a:xfrm rot="10800000">
            <a:off x="108300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18"/>
          <p:cNvCxnSpPr/>
          <p:nvPr/>
        </p:nvCxnSpPr>
        <p:spPr>
          <a:xfrm rot="10800000">
            <a:off x="76677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18"/>
          <p:cNvCxnSpPr/>
          <p:nvPr/>
        </p:nvCxnSpPr>
        <p:spPr>
          <a:xfrm rot="10800000">
            <a:off x="45054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18"/>
          <p:cNvCxnSpPr/>
          <p:nvPr/>
        </p:nvCxnSpPr>
        <p:spPr>
          <a:xfrm rot="10800000">
            <a:off x="1343100" y="4708975"/>
            <a:ext cx="2838300" cy="0"/>
          </a:xfrm>
          <a:prstGeom prst="straightConnector1">
            <a:avLst/>
          </a:prstGeom>
          <a:noFill/>
          <a:ln cap="flat" cmpd="sng" w="76200">
            <a:solidFill>
              <a:srgbClr val="6150E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28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28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القيمة المضافة</a:t>
            </a:r>
            <a:endParaRPr/>
          </a:p>
        </p:txBody>
      </p:sp>
      <p:sp>
        <p:nvSpPr>
          <p:cNvPr id="884" name="Google Shape;884;p28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مقارنة مع المراجع القائمة</a:t>
            </a:r>
            <a:endParaRPr/>
          </a:p>
        </p:txBody>
      </p:sp>
      <p:sp>
        <p:nvSpPr>
          <p:cNvPr id="885" name="Google Shape;885;p28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نكمّل المراجع ولا نستبدلها</a:t>
            </a:r>
            <a:endParaRPr/>
          </a:p>
        </p:txBody>
      </p:sp>
      <p:sp>
        <p:nvSpPr>
          <p:cNvPr id="886" name="Google Shape;886;p28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887" name="Google Shape;887;p28"/>
          <p:cNvSpPr txBox="1"/>
          <p:nvPr>
            <p:ph idx="3" type="body"/>
          </p:nvPr>
        </p:nvSpPr>
        <p:spPr>
          <a:xfrm>
            <a:off x="9696450" y="3857625"/>
            <a:ext cx="7143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المكتبة الشاملة والدرر السنية</a:t>
            </a:r>
            <a:endParaRPr/>
          </a:p>
        </p:txBody>
      </p:sp>
      <p:sp>
        <p:nvSpPr>
          <p:cNvPr id="888" name="Google Shape;888;p28"/>
          <p:cNvSpPr txBox="1"/>
          <p:nvPr>
            <p:ph idx="4" type="body"/>
          </p:nvPr>
        </p:nvSpPr>
        <p:spPr>
          <a:xfrm>
            <a:off x="9696450" y="4562475"/>
            <a:ext cx="7143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مراجع نصية وأحكام معتمدة</a:t>
            </a:r>
            <a:endParaRPr/>
          </a:p>
        </p:txBody>
      </p:sp>
      <p:sp>
        <p:nvSpPr>
          <p:cNvPr id="889" name="Google Shape;889;p28"/>
          <p:cNvSpPr txBox="1"/>
          <p:nvPr>
            <p:ph idx="5" type="body"/>
          </p:nvPr>
        </p:nvSpPr>
        <p:spPr>
          <a:xfrm>
            <a:off x="1409700" y="3857625"/>
            <a:ext cx="7143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ar-SA" sz="285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شجرة الأسانيد الذكية</a:t>
            </a:r>
            <a:endParaRPr/>
          </a:p>
        </p:txBody>
      </p:sp>
      <p:sp>
        <p:nvSpPr>
          <p:cNvPr id="890" name="Google Shape;890;p28"/>
          <p:cNvSpPr txBox="1"/>
          <p:nvPr>
            <p:ph idx="6" type="body"/>
          </p:nvPr>
        </p:nvSpPr>
        <p:spPr>
          <a:xfrm>
            <a:off x="1409700" y="4562475"/>
            <a:ext cx="7143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ar-SA" sz="24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رسم الإسناد وفحصه</a:t>
            </a:r>
            <a:endParaRPr/>
          </a:p>
        </p:txBody>
      </p:sp>
      <p:sp>
        <p:nvSpPr>
          <p:cNvPr id="891" name="Google Shape;891;p28"/>
          <p:cNvSpPr txBox="1"/>
          <p:nvPr>
            <p:ph idx="7" type="body"/>
          </p:nvPr>
        </p:nvSpPr>
        <p:spPr>
          <a:xfrm>
            <a:off x="9696450" y="5905500"/>
            <a:ext cx="7143900" cy="29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الميزة: نصوص كاملة وأحكام مرجعية موثوقة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t/>
            </a:r>
            <a:endParaRPr b="0" sz="2550">
              <a:solidFill>
                <a:srgbClr val="F2F4FF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القيد: السند يُقرأ نصاً، وجمع الطرق ومقارنتها جهد يدوي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t/>
            </a:r>
            <a:endParaRPr b="0" sz="2550">
              <a:solidFill>
                <a:srgbClr val="F2F4FF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يناسب: الرجوع إلى النص والحكم المعتمد</a:t>
            </a:r>
            <a:endParaRPr/>
          </a:p>
        </p:txBody>
      </p:sp>
      <p:sp>
        <p:nvSpPr>
          <p:cNvPr id="892" name="Google Shape;892;p28"/>
          <p:cNvSpPr txBox="1"/>
          <p:nvPr>
            <p:ph idx="8" type="body"/>
          </p:nvPr>
        </p:nvSpPr>
        <p:spPr>
          <a:xfrm>
            <a:off x="1409700" y="5905500"/>
            <a:ext cx="7143900" cy="29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الميزة: رسم الأسانيد عبر الدواوين وفحص العلل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t/>
            </a:r>
            <a:endParaRPr b="0" sz="2550">
              <a:solidFill>
                <a:srgbClr val="F2F4FF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القيد: لا تُصدر حكماً ولا تغني عن المصادر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t/>
            </a:r>
            <a:endParaRPr b="0" sz="2550">
              <a:solidFill>
                <a:srgbClr val="F2F4FF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b="0" lang="ar-SA" sz="255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يناسب: التحقق الأولي ومقارنة الطرق قبل الرجوع للحكم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" name="Google Shape;6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19"/>
          <p:cNvSpPr txBox="1"/>
          <p:nvPr>
            <p:ph idx="1" type="body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الفريق</a:t>
            </a:r>
            <a:endParaRPr/>
          </a:p>
        </p:txBody>
      </p:sp>
      <p:sp>
        <p:nvSpPr>
          <p:cNvPr id="689" name="Google Shape;689;p19"/>
          <p:cNvSpPr txBox="1"/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b="1" lang="ar-SA" sz="45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فريق العمل</a:t>
            </a:r>
            <a:endParaRPr/>
          </a:p>
        </p:txBody>
      </p:sp>
      <p:sp>
        <p:nvSpPr>
          <p:cNvPr id="690" name="Google Shape;690;p19"/>
          <p:cNvSpPr txBox="1"/>
          <p:nvPr>
            <p:ph idx="2" type="body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b="0" lang="ar-SA" sz="225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المسار 04 · أدوات المعرفة والتحقق</a:t>
            </a:r>
            <a:endParaRPr/>
          </a:p>
        </p:txBody>
      </p:sp>
      <p:sp>
        <p:nvSpPr>
          <p:cNvPr id="691" name="Google Shape;691;p19"/>
          <p:cNvSpPr txBox="1"/>
          <p:nvPr>
            <p:ph idx="12" type="sldNum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‹#›</a:t>
            </a:fld>
            <a:endParaRPr/>
          </a:p>
        </p:txBody>
      </p:sp>
      <p:sp>
        <p:nvSpPr>
          <p:cNvPr id="692" name="Google Shape;692;p19"/>
          <p:cNvSpPr/>
          <p:nvPr>
            <p:ph idx="3" type="pic"/>
          </p:nvPr>
        </p:nvSpPr>
        <p:spPr>
          <a:xfrm>
            <a:off x="141922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p19"/>
          <p:cNvSpPr txBox="1"/>
          <p:nvPr>
            <p:ph idx="4" type="body"/>
          </p:nvPr>
        </p:nvSpPr>
        <p:spPr>
          <a:xfrm>
            <a:off x="13716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[الاسم]</a:t>
            </a:r>
            <a:endParaRPr/>
          </a:p>
        </p:txBody>
      </p:sp>
      <p:sp>
        <p:nvSpPr>
          <p:cNvPr id="694" name="Google Shape;694;p19"/>
          <p:cNvSpPr txBox="1"/>
          <p:nvPr>
            <p:ph idx="5" type="body"/>
          </p:nvPr>
        </p:nvSpPr>
        <p:spPr>
          <a:xfrm>
            <a:off x="13716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21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الذكاء الاصطناعي وقواعد العلل</a:t>
            </a:r>
            <a:endParaRPr/>
          </a:p>
        </p:txBody>
      </p:sp>
      <p:sp>
        <p:nvSpPr>
          <p:cNvPr id="695" name="Google Shape;695;p19"/>
          <p:cNvSpPr/>
          <p:nvPr>
            <p:ph idx="6" type="pic"/>
          </p:nvPr>
        </p:nvSpPr>
        <p:spPr>
          <a:xfrm>
            <a:off x="101917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" name="Google Shape;696;p19"/>
          <p:cNvSpPr txBox="1"/>
          <p:nvPr>
            <p:ph idx="7" type="body"/>
          </p:nvPr>
        </p:nvSpPr>
        <p:spPr>
          <a:xfrm>
            <a:off x="9715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[الاسم]</a:t>
            </a:r>
            <a:endParaRPr/>
          </a:p>
        </p:txBody>
      </p:sp>
      <p:sp>
        <p:nvSpPr>
          <p:cNvPr id="697" name="Google Shape;697;p19"/>
          <p:cNvSpPr txBox="1"/>
          <p:nvPr>
            <p:ph idx="8" type="body"/>
          </p:nvPr>
        </p:nvSpPr>
        <p:spPr>
          <a:xfrm>
            <a:off x="9715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21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الواجهات والخادم</a:t>
            </a:r>
            <a:endParaRPr/>
          </a:p>
        </p:txBody>
      </p:sp>
      <p:sp>
        <p:nvSpPr>
          <p:cNvPr id="698" name="Google Shape;698;p19"/>
          <p:cNvSpPr/>
          <p:nvPr>
            <p:ph idx="9" type="pic"/>
          </p:nvPr>
        </p:nvSpPr>
        <p:spPr>
          <a:xfrm>
            <a:off x="61912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9" name="Google Shape;699;p19"/>
          <p:cNvSpPr txBox="1"/>
          <p:nvPr>
            <p:ph idx="13" type="body"/>
          </p:nvPr>
        </p:nvSpPr>
        <p:spPr>
          <a:xfrm>
            <a:off x="5715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[الاسم]</a:t>
            </a:r>
            <a:endParaRPr/>
          </a:p>
        </p:txBody>
      </p:sp>
      <p:sp>
        <p:nvSpPr>
          <p:cNvPr id="700" name="Google Shape;700;p19"/>
          <p:cNvSpPr txBox="1"/>
          <p:nvPr>
            <p:ph idx="14" type="body"/>
          </p:nvPr>
        </p:nvSpPr>
        <p:spPr>
          <a:xfrm>
            <a:off x="5715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21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المراجعة الشرعية للمحتوى</a:t>
            </a:r>
            <a:endParaRPr/>
          </a:p>
        </p:txBody>
      </p:sp>
      <p:sp>
        <p:nvSpPr>
          <p:cNvPr id="701" name="Google Shape;701;p19"/>
          <p:cNvSpPr/>
          <p:nvPr>
            <p:ph idx="15" type="pic"/>
          </p:nvPr>
        </p:nvSpPr>
        <p:spPr>
          <a:xfrm>
            <a:off x="2190750" y="3857625"/>
            <a:ext cx="2571750" cy="2571750"/>
          </a:xfrm>
          <a:prstGeom prst="rect">
            <a:avLst/>
          </a:prstGeom>
          <a:solidFill>
            <a:srgbClr val="161D48"/>
          </a:solidFill>
          <a:ln cap="flat" cmpd="sng" w="11425">
            <a:solidFill>
              <a:srgbClr val="4A559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2" name="Google Shape;702;p19"/>
          <p:cNvSpPr txBox="1"/>
          <p:nvPr>
            <p:ph idx="16" type="body"/>
          </p:nvPr>
        </p:nvSpPr>
        <p:spPr>
          <a:xfrm>
            <a:off x="1714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1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[الاسم]</a:t>
            </a:r>
            <a:endParaRPr/>
          </a:p>
        </p:txBody>
      </p:sp>
      <p:sp>
        <p:nvSpPr>
          <p:cNvPr id="703" name="Google Shape;703;p19"/>
          <p:cNvSpPr txBox="1"/>
          <p:nvPr>
            <p:ph idx="17" type="body"/>
          </p:nvPr>
        </p:nvSpPr>
        <p:spPr>
          <a:xfrm>
            <a:off x="1714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21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تجربة المستخدم والاختبار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31" title="خلفية هكثون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31"/>
          <p:cNvSpPr txBox="1"/>
          <p:nvPr>
            <p:ph idx="1" type="body"/>
          </p:nvPr>
        </p:nvSpPr>
        <p:spPr>
          <a:xfrm>
            <a:off x="3810000" y="5676900"/>
            <a:ext cx="106680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b="0" lang="ar-SA" sz="270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شجرة الأسانيد الذكية · الرابط الحي: [الرابط]</a:t>
            </a:r>
            <a:endParaRPr/>
          </a:p>
        </p:txBody>
      </p:sp>
      <p:sp>
        <p:nvSpPr>
          <p:cNvPr id="916" name="Google Shape;916;p31"/>
          <p:cNvSpPr txBox="1"/>
          <p:nvPr>
            <p:ph idx="2" type="body"/>
          </p:nvPr>
        </p:nvSpPr>
        <p:spPr>
          <a:xfrm>
            <a:off x="3810000" y="6653200"/>
            <a:ext cx="106680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ar-SA" sz="210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github.com/Abdelrahman984/smart-hadith-tree-web</a:t>
            </a:r>
            <a:endParaRPr/>
          </a:p>
        </p:txBody>
      </p:sp>
      <p:sp>
        <p:nvSpPr>
          <p:cNvPr id="917" name="Google Shape;917;p31"/>
          <p:cNvSpPr txBox="1"/>
          <p:nvPr>
            <p:ph type="title"/>
          </p:nvPr>
        </p:nvSpPr>
        <p:spPr>
          <a:xfrm>
            <a:off x="3810000" y="3819525"/>
            <a:ext cx="10668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b="1" lang="ar-SA" sz="72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شكراً لكم</a:t>
            </a:r>
            <a:endParaRPr/>
          </a:p>
        </p:txBody>
      </p:sp>
      <p:pic>
        <p:nvPicPr>
          <p:cNvPr id="918" name="Google Shape;918;p31" title="شعار الهاكثون لايت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8450" y="1277075"/>
            <a:ext cx="6546002" cy="167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37879" y="1460433"/>
            <a:ext cx="1891696" cy="1195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31" title="شعار عام الذكاء الاصطناعي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56994" y="1261812"/>
            <a:ext cx="2908672" cy="1708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31" title="شعار سدايا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50489" y="7716733"/>
            <a:ext cx="2292680" cy="134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31" title="شعار فيوتشر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79331" y="7929122"/>
            <a:ext cx="1570852" cy="921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31" title="شعار التحول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73933" y="7875719"/>
            <a:ext cx="1752806" cy="1028753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31"/>
          <p:cNvSpPr txBox="1"/>
          <p:nvPr/>
        </p:nvSpPr>
        <p:spPr>
          <a:xfrm>
            <a:off x="14046675" y="8254733"/>
            <a:ext cx="10620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شركاؤنا</a:t>
            </a:r>
            <a:r>
              <a:rPr lang="ar-SA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:</a:t>
            </a:r>
            <a:endParaRPr sz="18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cxnSp>
        <p:nvCxnSpPr>
          <p:cNvPr id="925" name="Google Shape;925;p31"/>
          <p:cNvCxnSpPr/>
          <p:nvPr/>
        </p:nvCxnSpPr>
        <p:spPr>
          <a:xfrm>
            <a:off x="7456246" y="8142400"/>
            <a:ext cx="0" cy="453600"/>
          </a:xfrm>
          <a:prstGeom prst="straightConnector1">
            <a:avLst/>
          </a:prstGeom>
          <a:noFill/>
          <a:ln cap="flat" cmpd="sng" w="9525">
            <a:solidFill>
              <a:srgbClr val="2EF2C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31"/>
          <p:cNvCxnSpPr/>
          <p:nvPr/>
        </p:nvCxnSpPr>
        <p:spPr>
          <a:xfrm>
            <a:off x="5075007" y="8142400"/>
            <a:ext cx="0" cy="453600"/>
          </a:xfrm>
          <a:prstGeom prst="straightConnector1">
            <a:avLst/>
          </a:prstGeom>
          <a:noFill/>
          <a:ln cap="flat" cmpd="sng" w="9525">
            <a:solidFill>
              <a:srgbClr val="2EF2C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27" name="Google Shape;927;p31" title="شعار وزارة الاتصالات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602750" y="7979050"/>
            <a:ext cx="3035650" cy="847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8" name="Google Shape;928;p31"/>
          <p:cNvCxnSpPr/>
          <p:nvPr/>
        </p:nvCxnSpPr>
        <p:spPr>
          <a:xfrm>
            <a:off x="10366904" y="8142400"/>
            <a:ext cx="0" cy="453600"/>
          </a:xfrm>
          <a:prstGeom prst="straightConnector1">
            <a:avLst/>
          </a:prstGeom>
          <a:noFill/>
          <a:ln cap="flat" cmpd="sng" w="9525">
            <a:solidFill>
              <a:srgbClr val="2EF2C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